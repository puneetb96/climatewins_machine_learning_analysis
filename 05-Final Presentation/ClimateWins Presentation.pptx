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256" r:id="rId2"/>
    <p:sldId id="257" r:id="rId3"/>
    <p:sldId id="258" r:id="rId4"/>
    <p:sldId id="260" r:id="rId5"/>
    <p:sldId id="259" r:id="rId6"/>
    <p:sldId id="261" r:id="rId7"/>
    <p:sldId id="262" r:id="rId8"/>
    <p:sldId id="263" r:id="rId9"/>
    <p:sldId id="264" r:id="rId10"/>
    <p:sldId id="265" r:id="rId11"/>
    <p:sldId id="267"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88652"/>
  </p:normalViewPr>
  <p:slideViewPr>
    <p:cSldViewPr snapToGrid="0">
      <p:cViewPr>
        <p:scale>
          <a:sx n="116" d="100"/>
          <a:sy n="116" d="100"/>
        </p:scale>
        <p:origin x="2240"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C1E30E-3D46-EE46-BF06-8C63FE091FA0}" type="doc">
      <dgm:prSet loTypeId="urn:microsoft.com/office/officeart/2005/8/layout/vList3" loCatId="" qsTypeId="urn:microsoft.com/office/officeart/2005/8/quickstyle/simple1" qsCatId="simple" csTypeId="urn:microsoft.com/office/officeart/2005/8/colors/accent1_2" csCatId="accent1" phldr="1"/>
      <dgm:spPr/>
    </dgm:pt>
    <dgm:pt modelId="{93C248E0-B59C-6A49-8FF9-4D8807BA33DB}">
      <dgm:prSet phldrT="[Text]"/>
      <dgm:spPr/>
      <dgm:t>
        <a:bodyPr/>
        <a:lstStyle/>
        <a:p>
          <a:r>
            <a:rPr lang="en-US" dirty="0"/>
            <a:t>The model best fit for future use of weather predictions would be the KNN model. The KNN model has the best balance and most reliability, as well as the highest average accuracy across all weather stations. </a:t>
          </a:r>
        </a:p>
      </dgm:t>
    </dgm:pt>
    <dgm:pt modelId="{F07E13AE-5A2B-134E-AD16-0D31BE09A5B8}" type="parTrans" cxnId="{BE87A219-EAF3-CD43-A244-1FFFD727261B}">
      <dgm:prSet/>
      <dgm:spPr/>
      <dgm:t>
        <a:bodyPr/>
        <a:lstStyle/>
        <a:p>
          <a:endParaRPr lang="en-US"/>
        </a:p>
      </dgm:t>
    </dgm:pt>
    <dgm:pt modelId="{D2DB45F8-F13E-CE48-88B4-33B1D830AED4}" type="sibTrans" cxnId="{BE87A219-EAF3-CD43-A244-1FFFD727261B}">
      <dgm:prSet/>
      <dgm:spPr/>
      <dgm:t>
        <a:bodyPr/>
        <a:lstStyle/>
        <a:p>
          <a:endParaRPr lang="en-US"/>
        </a:p>
      </dgm:t>
    </dgm:pt>
    <dgm:pt modelId="{89567F16-00C0-0042-9E25-2E630EF6878E}">
      <dgm:prSet phldrT="[Text]"/>
      <dgm:spPr/>
      <dgm:t>
        <a:bodyPr/>
        <a:lstStyle/>
        <a:p>
          <a:r>
            <a:rPr lang="en-US" dirty="0"/>
            <a:t>The decision tree model is not recommended for future use, as the data is not well suited for it. The accuracy tends to falter, and there are too many branches that extended and needs further pruning for effectiveness. </a:t>
          </a:r>
        </a:p>
      </dgm:t>
    </dgm:pt>
    <dgm:pt modelId="{C0DE36BD-91BE-334D-9830-56E1795BB99D}" type="parTrans" cxnId="{D6CE21A7-F6E3-A34C-9B1D-BCAD5E764244}">
      <dgm:prSet/>
      <dgm:spPr/>
      <dgm:t>
        <a:bodyPr/>
        <a:lstStyle/>
        <a:p>
          <a:endParaRPr lang="en-US"/>
        </a:p>
      </dgm:t>
    </dgm:pt>
    <dgm:pt modelId="{7AE93646-02B4-324F-98A9-0FDCA3147FAC}" type="sibTrans" cxnId="{D6CE21A7-F6E3-A34C-9B1D-BCAD5E764244}">
      <dgm:prSet/>
      <dgm:spPr/>
      <dgm:t>
        <a:bodyPr/>
        <a:lstStyle/>
        <a:p>
          <a:endParaRPr lang="en-US"/>
        </a:p>
      </dgm:t>
    </dgm:pt>
    <dgm:pt modelId="{FA12C27E-09EE-8240-BEEB-84F6169DB7D9}">
      <dgm:prSet phldrT="[Text]"/>
      <dgm:spPr/>
      <dgm:t>
        <a:bodyPr/>
        <a:lstStyle/>
        <a:p>
          <a:r>
            <a:rPr lang="en-US" dirty="0"/>
            <a:t>The Artificial Neural Networks Model has the capabilities of producing promising and accurate results. However, at the time, the KNN model is suggested, but can be replaced by the ANN model once there is some fine tuning done with the parameters to improve maximum accuracy.</a:t>
          </a:r>
        </a:p>
      </dgm:t>
    </dgm:pt>
    <dgm:pt modelId="{593736B4-909D-C54D-9955-7BE248ED2F23}" type="parTrans" cxnId="{C49CE0B4-7262-194F-921E-A79936E00FE0}">
      <dgm:prSet/>
      <dgm:spPr/>
      <dgm:t>
        <a:bodyPr/>
        <a:lstStyle/>
        <a:p>
          <a:endParaRPr lang="en-US"/>
        </a:p>
      </dgm:t>
    </dgm:pt>
    <dgm:pt modelId="{300072A3-BC27-BB48-8297-8E41B406A86F}" type="sibTrans" cxnId="{C49CE0B4-7262-194F-921E-A79936E00FE0}">
      <dgm:prSet/>
      <dgm:spPr/>
      <dgm:t>
        <a:bodyPr/>
        <a:lstStyle/>
        <a:p>
          <a:endParaRPr lang="en-US"/>
        </a:p>
      </dgm:t>
    </dgm:pt>
    <dgm:pt modelId="{7F397E40-C4CB-624A-97FA-69A50B550383}" type="pres">
      <dgm:prSet presAssocID="{D3C1E30E-3D46-EE46-BF06-8C63FE091FA0}" presName="linearFlow" presStyleCnt="0">
        <dgm:presLayoutVars>
          <dgm:dir/>
          <dgm:resizeHandles val="exact"/>
        </dgm:presLayoutVars>
      </dgm:prSet>
      <dgm:spPr/>
    </dgm:pt>
    <dgm:pt modelId="{9E783C43-565C-7047-96FA-EB79CE1F7219}" type="pres">
      <dgm:prSet presAssocID="{93C248E0-B59C-6A49-8FF9-4D8807BA33DB}" presName="composite" presStyleCnt="0"/>
      <dgm:spPr/>
    </dgm:pt>
    <dgm:pt modelId="{F6B9A43D-C612-CD41-9B20-CC52971E8900}" type="pres">
      <dgm:prSet presAssocID="{93C248E0-B59C-6A49-8FF9-4D8807BA33DB}" presName="imgShp" presStyleLbl="fgImgPlace1" presStyleIdx="0" presStyleCnt="3" custLinFactNeighborX="-5024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ocial network with solid fill"/>
        </a:ext>
      </dgm:extLst>
    </dgm:pt>
    <dgm:pt modelId="{CAFFC42E-C392-DC4B-8515-DB339B291198}" type="pres">
      <dgm:prSet presAssocID="{93C248E0-B59C-6A49-8FF9-4D8807BA33DB}" presName="txShp" presStyleLbl="node1" presStyleIdx="0" presStyleCnt="3">
        <dgm:presLayoutVars>
          <dgm:bulletEnabled val="1"/>
        </dgm:presLayoutVars>
      </dgm:prSet>
      <dgm:spPr/>
    </dgm:pt>
    <dgm:pt modelId="{7845C1D4-C1C8-E34D-8578-CC361669A432}" type="pres">
      <dgm:prSet presAssocID="{D2DB45F8-F13E-CE48-88B4-33B1D830AED4}" presName="spacing" presStyleCnt="0"/>
      <dgm:spPr/>
    </dgm:pt>
    <dgm:pt modelId="{35E6C53B-A4DA-0B46-978B-15E5DD5557F4}" type="pres">
      <dgm:prSet presAssocID="{89567F16-00C0-0042-9E25-2E630EF6878E}" presName="composite" presStyleCnt="0"/>
      <dgm:spPr/>
    </dgm:pt>
    <dgm:pt modelId="{52DB1000-D958-1445-A70C-FE80D66B9D4B}" type="pres">
      <dgm:prSet presAssocID="{89567F16-00C0-0042-9E25-2E630EF6878E}" presName="imgShp" presStyleLbl="fgImgPlace1" presStyleIdx="1" presStyleCnt="3" custLinFactNeighborX="-48093" custLinFactNeighborY="-106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Tree With Roots with solid fill"/>
        </a:ext>
      </dgm:extLst>
    </dgm:pt>
    <dgm:pt modelId="{2093009D-5DFF-2A4F-839B-0769657955FD}" type="pres">
      <dgm:prSet presAssocID="{89567F16-00C0-0042-9E25-2E630EF6878E}" presName="txShp" presStyleLbl="node1" presStyleIdx="1" presStyleCnt="3">
        <dgm:presLayoutVars>
          <dgm:bulletEnabled val="1"/>
        </dgm:presLayoutVars>
      </dgm:prSet>
      <dgm:spPr/>
    </dgm:pt>
    <dgm:pt modelId="{750C27D1-7A2A-0B4A-9434-4FC49B4A87DA}" type="pres">
      <dgm:prSet presAssocID="{7AE93646-02B4-324F-98A9-0FDCA3147FAC}" presName="spacing" presStyleCnt="0"/>
      <dgm:spPr/>
    </dgm:pt>
    <dgm:pt modelId="{B5F51D33-639E-B743-8060-0170B4152075}" type="pres">
      <dgm:prSet presAssocID="{FA12C27E-09EE-8240-BEEB-84F6169DB7D9}" presName="composite" presStyleCnt="0"/>
      <dgm:spPr/>
    </dgm:pt>
    <dgm:pt modelId="{10925A11-8E79-6545-9E20-C40CDFAB2A93}" type="pres">
      <dgm:prSet presAssocID="{FA12C27E-09EE-8240-BEEB-84F6169DB7D9}" presName="imgShp" presStyleLbl="fgImgPlace1" presStyleIdx="2" presStyleCnt="3" custLinFactNeighborX="-48094" custLinFactNeighborY="147"/>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Brain with solid fill"/>
        </a:ext>
      </dgm:extLst>
    </dgm:pt>
    <dgm:pt modelId="{CC01E723-F21D-AE45-BCA8-DF6A0B48ED6A}" type="pres">
      <dgm:prSet presAssocID="{FA12C27E-09EE-8240-BEEB-84F6169DB7D9}" presName="txShp" presStyleLbl="node1" presStyleIdx="2" presStyleCnt="3">
        <dgm:presLayoutVars>
          <dgm:bulletEnabled val="1"/>
        </dgm:presLayoutVars>
      </dgm:prSet>
      <dgm:spPr/>
    </dgm:pt>
  </dgm:ptLst>
  <dgm:cxnLst>
    <dgm:cxn modelId="{BE87A219-EAF3-CD43-A244-1FFFD727261B}" srcId="{D3C1E30E-3D46-EE46-BF06-8C63FE091FA0}" destId="{93C248E0-B59C-6A49-8FF9-4D8807BA33DB}" srcOrd="0" destOrd="0" parTransId="{F07E13AE-5A2B-134E-AD16-0D31BE09A5B8}" sibTransId="{D2DB45F8-F13E-CE48-88B4-33B1D830AED4}"/>
    <dgm:cxn modelId="{6678727A-B4A7-0C48-BA59-D74F2283A789}" type="presOf" srcId="{93C248E0-B59C-6A49-8FF9-4D8807BA33DB}" destId="{CAFFC42E-C392-DC4B-8515-DB339B291198}" srcOrd="0" destOrd="0" presId="urn:microsoft.com/office/officeart/2005/8/layout/vList3"/>
    <dgm:cxn modelId="{2D646F90-D10A-0F4F-9821-3C744FDCD930}" type="presOf" srcId="{FA12C27E-09EE-8240-BEEB-84F6169DB7D9}" destId="{CC01E723-F21D-AE45-BCA8-DF6A0B48ED6A}" srcOrd="0" destOrd="0" presId="urn:microsoft.com/office/officeart/2005/8/layout/vList3"/>
    <dgm:cxn modelId="{57D21BA6-373F-5347-81FF-4BD3120DABCD}" type="presOf" srcId="{89567F16-00C0-0042-9E25-2E630EF6878E}" destId="{2093009D-5DFF-2A4F-839B-0769657955FD}" srcOrd="0" destOrd="0" presId="urn:microsoft.com/office/officeart/2005/8/layout/vList3"/>
    <dgm:cxn modelId="{D6CE21A7-F6E3-A34C-9B1D-BCAD5E764244}" srcId="{D3C1E30E-3D46-EE46-BF06-8C63FE091FA0}" destId="{89567F16-00C0-0042-9E25-2E630EF6878E}" srcOrd="1" destOrd="0" parTransId="{C0DE36BD-91BE-334D-9830-56E1795BB99D}" sibTransId="{7AE93646-02B4-324F-98A9-0FDCA3147FAC}"/>
    <dgm:cxn modelId="{C49CE0B4-7262-194F-921E-A79936E00FE0}" srcId="{D3C1E30E-3D46-EE46-BF06-8C63FE091FA0}" destId="{FA12C27E-09EE-8240-BEEB-84F6169DB7D9}" srcOrd="2" destOrd="0" parTransId="{593736B4-909D-C54D-9955-7BE248ED2F23}" sibTransId="{300072A3-BC27-BB48-8297-8E41B406A86F}"/>
    <dgm:cxn modelId="{3B6116B9-0F2B-E643-A784-85811DADB02B}" type="presOf" srcId="{D3C1E30E-3D46-EE46-BF06-8C63FE091FA0}" destId="{7F397E40-C4CB-624A-97FA-69A50B550383}" srcOrd="0" destOrd="0" presId="urn:microsoft.com/office/officeart/2005/8/layout/vList3"/>
    <dgm:cxn modelId="{71A58260-FF7C-A440-81A3-B1FEC4E6775D}" type="presParOf" srcId="{7F397E40-C4CB-624A-97FA-69A50B550383}" destId="{9E783C43-565C-7047-96FA-EB79CE1F7219}" srcOrd="0" destOrd="0" presId="urn:microsoft.com/office/officeart/2005/8/layout/vList3"/>
    <dgm:cxn modelId="{AC9DA09C-9B8D-DB42-AA37-E4C998FD0CF7}" type="presParOf" srcId="{9E783C43-565C-7047-96FA-EB79CE1F7219}" destId="{F6B9A43D-C612-CD41-9B20-CC52971E8900}" srcOrd="0" destOrd="0" presId="urn:microsoft.com/office/officeart/2005/8/layout/vList3"/>
    <dgm:cxn modelId="{CCD03405-F616-EB4C-9B45-115DE01DA7D8}" type="presParOf" srcId="{9E783C43-565C-7047-96FA-EB79CE1F7219}" destId="{CAFFC42E-C392-DC4B-8515-DB339B291198}" srcOrd="1" destOrd="0" presId="urn:microsoft.com/office/officeart/2005/8/layout/vList3"/>
    <dgm:cxn modelId="{0C5E2D60-B046-B842-8475-04822DBA0609}" type="presParOf" srcId="{7F397E40-C4CB-624A-97FA-69A50B550383}" destId="{7845C1D4-C1C8-E34D-8578-CC361669A432}" srcOrd="1" destOrd="0" presId="urn:microsoft.com/office/officeart/2005/8/layout/vList3"/>
    <dgm:cxn modelId="{18B8F3B7-613F-FB40-9D65-170D0C91A0A6}" type="presParOf" srcId="{7F397E40-C4CB-624A-97FA-69A50B550383}" destId="{35E6C53B-A4DA-0B46-978B-15E5DD5557F4}" srcOrd="2" destOrd="0" presId="urn:microsoft.com/office/officeart/2005/8/layout/vList3"/>
    <dgm:cxn modelId="{F1468BBB-31C5-4246-B7D0-AB936D4BC00E}" type="presParOf" srcId="{35E6C53B-A4DA-0B46-978B-15E5DD5557F4}" destId="{52DB1000-D958-1445-A70C-FE80D66B9D4B}" srcOrd="0" destOrd="0" presId="urn:microsoft.com/office/officeart/2005/8/layout/vList3"/>
    <dgm:cxn modelId="{364684BC-C0B1-9E47-A3F3-40868FA49BD3}" type="presParOf" srcId="{35E6C53B-A4DA-0B46-978B-15E5DD5557F4}" destId="{2093009D-5DFF-2A4F-839B-0769657955FD}" srcOrd="1" destOrd="0" presId="urn:microsoft.com/office/officeart/2005/8/layout/vList3"/>
    <dgm:cxn modelId="{A419898A-FFA4-9D49-A882-2F5FCC2146BE}" type="presParOf" srcId="{7F397E40-C4CB-624A-97FA-69A50B550383}" destId="{750C27D1-7A2A-0B4A-9434-4FC49B4A87DA}" srcOrd="3" destOrd="0" presId="urn:microsoft.com/office/officeart/2005/8/layout/vList3"/>
    <dgm:cxn modelId="{B46FBA8D-9BA8-1546-BDC7-7A31438D70BE}" type="presParOf" srcId="{7F397E40-C4CB-624A-97FA-69A50B550383}" destId="{B5F51D33-639E-B743-8060-0170B4152075}" srcOrd="4" destOrd="0" presId="urn:microsoft.com/office/officeart/2005/8/layout/vList3"/>
    <dgm:cxn modelId="{950A3DBA-9CF0-7143-8D45-8D8906FB4A47}" type="presParOf" srcId="{B5F51D33-639E-B743-8060-0170B4152075}" destId="{10925A11-8E79-6545-9E20-C40CDFAB2A93}" srcOrd="0" destOrd="0" presId="urn:microsoft.com/office/officeart/2005/8/layout/vList3"/>
    <dgm:cxn modelId="{9A6221CC-BEA4-1343-BAF8-E24EF0E85064}" type="presParOf" srcId="{B5F51D33-639E-B743-8060-0170B4152075}" destId="{CC01E723-F21D-AE45-BCA8-DF6A0B48ED6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FFC42E-C392-DC4B-8515-DB339B291198}">
      <dsp:nvSpPr>
        <dsp:cNvPr id="0" name=""/>
        <dsp:cNvSpPr/>
      </dsp:nvSpPr>
      <dsp:spPr>
        <a:xfrm rot="10800000">
          <a:off x="1954714" y="1515"/>
          <a:ext cx="6737397" cy="1030803"/>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4556"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kern="1200" dirty="0"/>
            <a:t>The model best fit for future use of weather predictions would be the KNN model. The KNN model has the best balance and most reliability, as well as the highest average accuracy across all weather stations. </a:t>
          </a:r>
        </a:p>
      </dsp:txBody>
      <dsp:txXfrm rot="10800000">
        <a:off x="2212415" y="1515"/>
        <a:ext cx="6479696" cy="1030803"/>
      </dsp:txXfrm>
    </dsp:sp>
    <dsp:sp modelId="{F6B9A43D-C612-CD41-9B20-CC52971E8900}">
      <dsp:nvSpPr>
        <dsp:cNvPr id="0" name=""/>
        <dsp:cNvSpPr/>
      </dsp:nvSpPr>
      <dsp:spPr>
        <a:xfrm>
          <a:off x="921406" y="1515"/>
          <a:ext cx="1030803" cy="1030803"/>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93009D-5DFF-2A4F-839B-0769657955FD}">
      <dsp:nvSpPr>
        <dsp:cNvPr id="0" name=""/>
        <dsp:cNvSpPr/>
      </dsp:nvSpPr>
      <dsp:spPr>
        <a:xfrm rot="10800000">
          <a:off x="1954714" y="1309429"/>
          <a:ext cx="6737397" cy="1030803"/>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4556"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kern="1200" dirty="0"/>
            <a:t>The decision tree model is not recommended for future use, as the data is not well suited for it. The accuracy tends to falter, and there are too many branches that extended and needs further pruning for effectiveness. </a:t>
          </a:r>
        </a:p>
      </dsp:txBody>
      <dsp:txXfrm rot="10800000">
        <a:off x="2212415" y="1309429"/>
        <a:ext cx="6479696" cy="1030803"/>
      </dsp:txXfrm>
    </dsp:sp>
    <dsp:sp modelId="{52DB1000-D958-1445-A70C-FE80D66B9D4B}">
      <dsp:nvSpPr>
        <dsp:cNvPr id="0" name=""/>
        <dsp:cNvSpPr/>
      </dsp:nvSpPr>
      <dsp:spPr>
        <a:xfrm>
          <a:off x="943568" y="1298482"/>
          <a:ext cx="1030803" cy="1030803"/>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C01E723-F21D-AE45-BCA8-DF6A0B48ED6A}">
      <dsp:nvSpPr>
        <dsp:cNvPr id="0" name=""/>
        <dsp:cNvSpPr/>
      </dsp:nvSpPr>
      <dsp:spPr>
        <a:xfrm rot="10800000">
          <a:off x="1954714" y="2617343"/>
          <a:ext cx="6737397" cy="1030803"/>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4556"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kern="1200" dirty="0"/>
            <a:t>The Artificial Neural Networks Model has the capabilities of producing promising and accurate results. However, at the time, the KNN model is suggested, but can be replaced by the ANN model once there is some fine tuning done with the parameters to improve maximum accuracy.</a:t>
          </a:r>
        </a:p>
      </dsp:txBody>
      <dsp:txXfrm rot="10800000">
        <a:off x="2212415" y="2617343"/>
        <a:ext cx="6479696" cy="1030803"/>
      </dsp:txXfrm>
    </dsp:sp>
    <dsp:sp modelId="{10925A11-8E79-6545-9E20-C40CDFAB2A93}">
      <dsp:nvSpPr>
        <dsp:cNvPr id="0" name=""/>
        <dsp:cNvSpPr/>
      </dsp:nvSpPr>
      <dsp:spPr>
        <a:xfrm>
          <a:off x="943558" y="2618858"/>
          <a:ext cx="1030803" cy="1030803"/>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CDE215-6A9C-F14A-BDE8-B61A504B7B2B}" type="datetimeFigureOut">
              <a:rPr lang="en-US" smtClean="0"/>
              <a:t>11/10/25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8117EA-F48C-D94E-85EA-E73B05433ADD}" type="slidenum">
              <a:rPr lang="en-US" smtClean="0"/>
              <a:t>‹#›</a:t>
            </a:fld>
            <a:endParaRPr lang="en-US"/>
          </a:p>
        </p:txBody>
      </p:sp>
    </p:spTree>
    <p:extLst>
      <p:ext uri="{BB962C8B-B14F-4D97-AF65-F5344CB8AC3E}">
        <p14:creationId xmlns:p14="http://schemas.microsoft.com/office/powerpoint/2010/main" val="23047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Data Collection: Is each weather station gathering data in the same manner across multiple different European countries, using the same tools. Some things are also subjective (What is “pleasant” weather?)</a:t>
            </a:r>
          </a:p>
          <a:p>
            <a:endParaRPr lang="en-US" dirty="0"/>
          </a:p>
          <a:p>
            <a:r>
              <a:rPr lang="en-US" dirty="0"/>
              <a:t>Temporal Bias : How accurate can the data be from “the 1800s” where tools and measurements are not as accurate as today’s technology? Long term averages may mask recent trends (last 20ish years)</a:t>
            </a:r>
          </a:p>
          <a:p>
            <a:endParaRPr lang="en-US" dirty="0"/>
          </a:p>
          <a:p>
            <a:r>
              <a:rPr lang="en-US" dirty="0"/>
              <a:t>Data diversification bias: Machine learning models might have a bias towards larger regions and underrepresent those smaller European cities/weather stations </a:t>
            </a:r>
          </a:p>
          <a:p>
            <a:endParaRPr lang="en-US" dirty="0"/>
          </a:p>
          <a:p>
            <a:endParaRPr lang="en-US" dirty="0"/>
          </a:p>
        </p:txBody>
      </p:sp>
      <p:sp>
        <p:nvSpPr>
          <p:cNvPr id="4" name="Slide Number Placeholder 3"/>
          <p:cNvSpPr>
            <a:spLocks noGrp="1"/>
          </p:cNvSpPr>
          <p:nvPr>
            <p:ph type="sldNum" sz="quarter" idx="5"/>
          </p:nvPr>
        </p:nvSpPr>
        <p:spPr/>
        <p:txBody>
          <a:bodyPr/>
          <a:lstStyle/>
          <a:p>
            <a:fld id="{178117EA-F48C-D94E-85EA-E73B05433ADD}" type="slidenum">
              <a:rPr lang="en-US" smtClean="0"/>
              <a:t>5</a:t>
            </a:fld>
            <a:endParaRPr lang="en-US"/>
          </a:p>
        </p:txBody>
      </p:sp>
    </p:spTree>
    <p:extLst>
      <p:ext uri="{BB962C8B-B14F-4D97-AF65-F5344CB8AC3E}">
        <p14:creationId xmlns:p14="http://schemas.microsoft.com/office/powerpoint/2010/main" val="3250413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example we see the gradient descent technique used on Madrid temperatures in 2020, approaching 0. Indicating the steady and stable learning by the model</a:t>
            </a:r>
          </a:p>
          <a:p>
            <a:r>
              <a:rPr lang="en-US" dirty="0"/>
              <a:t>This suggests the temperature trends can be modeled</a:t>
            </a:r>
          </a:p>
        </p:txBody>
      </p:sp>
      <p:sp>
        <p:nvSpPr>
          <p:cNvPr id="4" name="Slide Number Placeholder 3"/>
          <p:cNvSpPr>
            <a:spLocks noGrp="1"/>
          </p:cNvSpPr>
          <p:nvPr>
            <p:ph type="sldNum" sz="quarter" idx="5"/>
          </p:nvPr>
        </p:nvSpPr>
        <p:spPr/>
        <p:txBody>
          <a:bodyPr/>
          <a:lstStyle/>
          <a:p>
            <a:fld id="{178117EA-F48C-D94E-85EA-E73B05433ADD}" type="slidenum">
              <a:rPr lang="en-US" smtClean="0"/>
              <a:t>6</a:t>
            </a:fld>
            <a:endParaRPr lang="en-US"/>
          </a:p>
        </p:txBody>
      </p:sp>
    </p:spTree>
    <p:extLst>
      <p:ext uri="{BB962C8B-B14F-4D97-AF65-F5344CB8AC3E}">
        <p14:creationId xmlns:p14="http://schemas.microsoft.com/office/powerpoint/2010/main" val="1819498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KNN – Nearby data points and are grouped based on number of neighbors in each group</a:t>
            </a:r>
          </a:p>
          <a:p>
            <a:r>
              <a:rPr lang="en-US" dirty="0"/>
              <a:t>Model showed promising results (Average accuracy of 88% on all weather stations), the best way to enhance the accuracy in future use is to train it with a more diverse dataset that captures a broader range of weather conditions (Not just “pleasant” and “unpleasant” weather). The model is susceptible to overfitting, as you can see in the example of </a:t>
            </a:r>
            <a:r>
              <a:rPr lang="en-US" dirty="0" err="1"/>
              <a:t>Sonnblick</a:t>
            </a:r>
            <a:r>
              <a:rPr lang="en-US" dirty="0"/>
              <a:t>, it hits at an accuracy of 100% when it comes to predicting pleasant weather</a:t>
            </a:r>
          </a:p>
        </p:txBody>
      </p:sp>
      <p:sp>
        <p:nvSpPr>
          <p:cNvPr id="4" name="Slide Number Placeholder 3"/>
          <p:cNvSpPr>
            <a:spLocks noGrp="1"/>
          </p:cNvSpPr>
          <p:nvPr>
            <p:ph type="sldNum" sz="quarter" idx="5"/>
          </p:nvPr>
        </p:nvSpPr>
        <p:spPr/>
        <p:txBody>
          <a:bodyPr/>
          <a:lstStyle/>
          <a:p>
            <a:fld id="{178117EA-F48C-D94E-85EA-E73B05433ADD}" type="slidenum">
              <a:rPr lang="en-US" smtClean="0"/>
              <a:t>7</a:t>
            </a:fld>
            <a:endParaRPr lang="en-US"/>
          </a:p>
        </p:txBody>
      </p:sp>
    </p:spTree>
    <p:extLst>
      <p:ext uri="{BB962C8B-B14F-4D97-AF65-F5344CB8AC3E}">
        <p14:creationId xmlns:p14="http://schemas.microsoft.com/office/powerpoint/2010/main" val="3987707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decision tree was much too complex and not as accurate as the other models. The decision tree model will likely need to undergo pruning for better generalizations and more accurate outcomes. </a:t>
            </a:r>
          </a:p>
          <a:p>
            <a:r>
              <a:rPr lang="en-US" dirty="0"/>
              <a:t>The confusion matrix for this example also produced a wide variety of numbers of training set vs testing. </a:t>
            </a:r>
          </a:p>
        </p:txBody>
      </p:sp>
      <p:sp>
        <p:nvSpPr>
          <p:cNvPr id="4" name="Slide Number Placeholder 3"/>
          <p:cNvSpPr>
            <a:spLocks noGrp="1"/>
          </p:cNvSpPr>
          <p:nvPr>
            <p:ph type="sldNum" sz="quarter" idx="5"/>
          </p:nvPr>
        </p:nvSpPr>
        <p:spPr/>
        <p:txBody>
          <a:bodyPr/>
          <a:lstStyle/>
          <a:p>
            <a:fld id="{178117EA-F48C-D94E-85EA-E73B05433ADD}" type="slidenum">
              <a:rPr lang="en-US" smtClean="0"/>
              <a:t>8</a:t>
            </a:fld>
            <a:endParaRPr lang="en-US"/>
          </a:p>
        </p:txBody>
      </p:sp>
    </p:spTree>
    <p:extLst>
      <p:ext uri="{BB962C8B-B14F-4D97-AF65-F5344CB8AC3E}">
        <p14:creationId xmlns:p14="http://schemas.microsoft.com/office/powerpoint/2010/main" val="36275511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28600" indent="-228600">
              <a:buAutoNum type="arabicPeriod"/>
            </a:pPr>
            <a:r>
              <a:rPr lang="en-US" dirty="0"/>
              <a:t>Expand to a potential global scale</a:t>
            </a:r>
          </a:p>
          <a:p>
            <a:pPr marL="228600" indent="-228600">
              <a:buAutoNum type="arabicPeriod"/>
            </a:pPr>
            <a:r>
              <a:rPr lang="en-US" dirty="0"/>
              <a:t> With an ever changing climate, newer data about climate is crucial to learn more about current global trends</a:t>
            </a:r>
          </a:p>
          <a:p>
            <a:pPr marL="228600" indent="-228600">
              <a:buAutoNum type="arabicPeriod"/>
            </a:pPr>
            <a:r>
              <a:rPr lang="en-US" dirty="0"/>
              <a:t>New data with more variables can lead to better accuracy of which countries have pleasant and unpleasant weather</a:t>
            </a:r>
          </a:p>
          <a:p>
            <a:pPr marL="228600" indent="-228600">
              <a:buAutoNum type="arabicPeriod"/>
            </a:pPr>
            <a:r>
              <a:rPr lang="en-US" dirty="0"/>
              <a:t>Testing out ANN model with updated parameters or other machine learning techniques like random forests</a:t>
            </a:r>
          </a:p>
          <a:p>
            <a:pPr marL="228600" indent="-228600">
              <a:buAutoNum type="arabicPeriod"/>
            </a:pPr>
            <a:endParaRPr lang="en-US" dirty="0"/>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178117EA-F48C-D94E-85EA-E73B05433ADD}" type="slidenum">
              <a:rPr lang="en-US" smtClean="0"/>
              <a:t>11</a:t>
            </a:fld>
            <a:endParaRPr lang="en-US"/>
          </a:p>
        </p:txBody>
      </p:sp>
    </p:spTree>
    <p:extLst>
      <p:ext uri="{BB962C8B-B14F-4D97-AF65-F5344CB8AC3E}">
        <p14:creationId xmlns:p14="http://schemas.microsoft.com/office/powerpoint/2010/main" val="382435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a:t>
            </a:r>
          </a:p>
          <a:p>
            <a:r>
              <a:rPr lang="en-US" dirty="0"/>
              <a:t>Please feel free to reach out to me for any more information via email,</a:t>
            </a:r>
          </a:p>
          <a:p>
            <a:r>
              <a:rPr lang="en-US" dirty="0"/>
              <a:t>Or check out the github repository for all the corresponding data, python scripts, visualizations and more used for this analysis</a:t>
            </a:r>
          </a:p>
        </p:txBody>
      </p:sp>
      <p:sp>
        <p:nvSpPr>
          <p:cNvPr id="4" name="Slide Number Placeholder 3"/>
          <p:cNvSpPr>
            <a:spLocks noGrp="1"/>
          </p:cNvSpPr>
          <p:nvPr>
            <p:ph type="sldNum" sz="quarter" idx="5"/>
          </p:nvPr>
        </p:nvSpPr>
        <p:spPr/>
        <p:txBody>
          <a:bodyPr/>
          <a:lstStyle/>
          <a:p>
            <a:fld id="{178117EA-F48C-D94E-85EA-E73B05433ADD}" type="slidenum">
              <a:rPr lang="en-US" smtClean="0"/>
              <a:t>12</a:t>
            </a:fld>
            <a:endParaRPr lang="en-US"/>
          </a:p>
        </p:txBody>
      </p:sp>
    </p:spTree>
    <p:extLst>
      <p:ext uri="{BB962C8B-B14F-4D97-AF65-F5344CB8AC3E}">
        <p14:creationId xmlns:p14="http://schemas.microsoft.com/office/powerpoint/2010/main" val="13014364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AA2F4126-CC07-E54A-98FA-3CE58548C08F}" type="datetimeFigureOut">
              <a:rPr lang="en-US" smtClean="0"/>
              <a:t>11/5/25</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AE159029-936F-B141-9602-86906A550CED}" type="slidenum">
              <a:rPr lang="en-US" smtClean="0"/>
              <a:t>‹#›</a:t>
            </a:fld>
            <a:endParaRPr lang="en-US"/>
          </a:p>
        </p:txBody>
      </p:sp>
    </p:spTree>
    <p:extLst>
      <p:ext uri="{BB962C8B-B14F-4D97-AF65-F5344CB8AC3E}">
        <p14:creationId xmlns:p14="http://schemas.microsoft.com/office/powerpoint/2010/main" val="33706102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2F4126-CC07-E54A-98FA-3CE58548C08F}"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59029-936F-B141-9602-86906A550CED}" type="slidenum">
              <a:rPr lang="en-US" smtClean="0"/>
              <a:t>‹#›</a:t>
            </a:fld>
            <a:endParaRPr lang="en-US"/>
          </a:p>
        </p:txBody>
      </p:sp>
    </p:spTree>
    <p:extLst>
      <p:ext uri="{BB962C8B-B14F-4D97-AF65-F5344CB8AC3E}">
        <p14:creationId xmlns:p14="http://schemas.microsoft.com/office/powerpoint/2010/main" val="1878425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2F4126-CC07-E54A-98FA-3CE58548C08F}"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59029-936F-B141-9602-86906A550CED}" type="slidenum">
              <a:rPr lang="en-US" smtClean="0"/>
              <a:t>‹#›</a:t>
            </a:fld>
            <a:endParaRPr lang="en-US"/>
          </a:p>
        </p:txBody>
      </p:sp>
    </p:spTree>
    <p:extLst>
      <p:ext uri="{BB962C8B-B14F-4D97-AF65-F5344CB8AC3E}">
        <p14:creationId xmlns:p14="http://schemas.microsoft.com/office/powerpoint/2010/main" val="528492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A2F4126-CC07-E54A-98FA-3CE58548C08F}" type="datetimeFigureOut">
              <a:rPr lang="en-US" smtClean="0"/>
              <a:t>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159029-936F-B141-9602-86906A550CED}" type="slidenum">
              <a:rPr lang="en-US" smtClean="0"/>
              <a:t>‹#›</a:t>
            </a:fld>
            <a:endParaRPr lang="en-US"/>
          </a:p>
        </p:txBody>
      </p:sp>
    </p:spTree>
    <p:extLst>
      <p:ext uri="{BB962C8B-B14F-4D97-AF65-F5344CB8AC3E}">
        <p14:creationId xmlns:p14="http://schemas.microsoft.com/office/powerpoint/2010/main" val="3553874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2F4126-CC07-E54A-98FA-3CE58548C08F}" type="datetimeFigureOut">
              <a:rPr lang="en-US" smtClean="0"/>
              <a:t>11/5/25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159029-936F-B141-9602-86906A550CED}" type="slidenum">
              <a:rPr lang="en-US" smtClean="0"/>
              <a:t>‹#›</a:t>
            </a:fld>
            <a:endParaRPr lang="en-US"/>
          </a:p>
        </p:txBody>
      </p:sp>
    </p:spTree>
    <p:extLst>
      <p:ext uri="{BB962C8B-B14F-4D97-AF65-F5344CB8AC3E}">
        <p14:creationId xmlns:p14="http://schemas.microsoft.com/office/powerpoint/2010/main" val="3540269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A2F4126-CC07-E54A-98FA-3CE58548C08F}" type="datetimeFigureOut">
              <a:rPr lang="en-US" smtClean="0"/>
              <a:t>11/5/25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159029-936F-B141-9602-86906A550CED}" type="slidenum">
              <a:rPr lang="en-US" smtClean="0"/>
              <a:t>‹#›</a:t>
            </a:fld>
            <a:endParaRPr lang="en-US"/>
          </a:p>
        </p:txBody>
      </p:sp>
    </p:spTree>
    <p:extLst>
      <p:ext uri="{BB962C8B-B14F-4D97-AF65-F5344CB8AC3E}">
        <p14:creationId xmlns:p14="http://schemas.microsoft.com/office/powerpoint/2010/main" val="965220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AA2F4126-CC07-E54A-98FA-3CE58548C08F}" type="datetimeFigureOut">
              <a:rPr lang="en-US" smtClean="0"/>
              <a:t>11/5/25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159029-936F-B141-9602-86906A550CED}" type="slidenum">
              <a:rPr lang="en-US" smtClean="0"/>
              <a:t>‹#›</a:t>
            </a:fld>
            <a:endParaRPr lang="en-US"/>
          </a:p>
        </p:txBody>
      </p:sp>
    </p:spTree>
    <p:extLst>
      <p:ext uri="{BB962C8B-B14F-4D97-AF65-F5344CB8AC3E}">
        <p14:creationId xmlns:p14="http://schemas.microsoft.com/office/powerpoint/2010/main" val="3590335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2F4126-CC07-E54A-98FA-3CE58548C08F}" type="datetimeFigureOut">
              <a:rPr lang="en-US" smtClean="0"/>
              <a:t>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159029-936F-B141-9602-86906A550CED}" type="slidenum">
              <a:rPr lang="en-US" smtClean="0"/>
              <a:t>‹#›</a:t>
            </a:fld>
            <a:endParaRPr lang="en-US"/>
          </a:p>
        </p:txBody>
      </p:sp>
    </p:spTree>
    <p:extLst>
      <p:ext uri="{BB962C8B-B14F-4D97-AF65-F5344CB8AC3E}">
        <p14:creationId xmlns:p14="http://schemas.microsoft.com/office/powerpoint/2010/main" val="151970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2F4126-CC07-E54A-98FA-3CE58548C08F}" type="datetimeFigureOut">
              <a:rPr lang="en-US" smtClean="0"/>
              <a:t>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159029-936F-B141-9602-86906A550CED}" type="slidenum">
              <a:rPr lang="en-US" smtClean="0"/>
              <a:t>‹#›</a:t>
            </a:fld>
            <a:endParaRPr lang="en-US"/>
          </a:p>
        </p:txBody>
      </p:sp>
    </p:spTree>
    <p:extLst>
      <p:ext uri="{BB962C8B-B14F-4D97-AF65-F5344CB8AC3E}">
        <p14:creationId xmlns:p14="http://schemas.microsoft.com/office/powerpoint/2010/main" val="2443035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2F4126-CC07-E54A-98FA-3CE58548C08F}" type="datetimeFigureOut">
              <a:rPr lang="en-US" smtClean="0"/>
              <a:t>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159029-936F-B141-9602-86906A550CED}" type="slidenum">
              <a:rPr lang="en-US" smtClean="0"/>
              <a:t>‹#›</a:t>
            </a:fld>
            <a:endParaRPr lang="en-US"/>
          </a:p>
        </p:txBody>
      </p:sp>
    </p:spTree>
    <p:extLst>
      <p:ext uri="{BB962C8B-B14F-4D97-AF65-F5344CB8AC3E}">
        <p14:creationId xmlns:p14="http://schemas.microsoft.com/office/powerpoint/2010/main" val="3369582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2F4126-CC07-E54A-98FA-3CE58548C08F}"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59029-936F-B141-9602-86906A550CED}" type="slidenum">
              <a:rPr lang="en-US" smtClean="0"/>
              <a:t>‹#›</a:t>
            </a:fld>
            <a:endParaRPr lang="en-US"/>
          </a:p>
        </p:txBody>
      </p:sp>
    </p:spTree>
    <p:extLst>
      <p:ext uri="{BB962C8B-B14F-4D97-AF65-F5344CB8AC3E}">
        <p14:creationId xmlns:p14="http://schemas.microsoft.com/office/powerpoint/2010/main" val="11294475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2F4126-CC07-E54A-98FA-3CE58548C08F}"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59029-936F-B141-9602-86906A550CED}" type="slidenum">
              <a:rPr lang="en-US" smtClean="0"/>
              <a:t>‹#›</a:t>
            </a:fld>
            <a:endParaRPr lang="en-US"/>
          </a:p>
        </p:txBody>
      </p:sp>
    </p:spTree>
    <p:extLst>
      <p:ext uri="{BB962C8B-B14F-4D97-AF65-F5344CB8AC3E}">
        <p14:creationId xmlns:p14="http://schemas.microsoft.com/office/powerpoint/2010/main" val="36087174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2F4126-CC07-E54A-98FA-3CE58548C08F}"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59029-936F-B141-9602-86906A550CED}" type="slidenum">
              <a:rPr lang="en-US" smtClean="0"/>
              <a:t>‹#›</a:t>
            </a:fld>
            <a:endParaRPr lang="en-US"/>
          </a:p>
        </p:txBody>
      </p:sp>
    </p:spTree>
    <p:extLst>
      <p:ext uri="{BB962C8B-B14F-4D97-AF65-F5344CB8AC3E}">
        <p14:creationId xmlns:p14="http://schemas.microsoft.com/office/powerpoint/2010/main" val="19483636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2F4126-CC07-E54A-98FA-3CE58548C08F}"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59029-936F-B141-9602-86906A550CED}" type="slidenum">
              <a:rPr lang="en-US" smtClean="0"/>
              <a:t>‹#›</a:t>
            </a:fld>
            <a:endParaRPr lang="en-US"/>
          </a:p>
        </p:txBody>
      </p:sp>
    </p:spTree>
    <p:extLst>
      <p:ext uri="{BB962C8B-B14F-4D97-AF65-F5344CB8AC3E}">
        <p14:creationId xmlns:p14="http://schemas.microsoft.com/office/powerpoint/2010/main" val="2724371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2F4126-CC07-E54A-98FA-3CE58548C08F}"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59029-936F-B141-9602-86906A550CED}" type="slidenum">
              <a:rPr lang="en-US" smtClean="0"/>
              <a:t>‹#›</a:t>
            </a:fld>
            <a:endParaRPr lang="en-US"/>
          </a:p>
        </p:txBody>
      </p:sp>
    </p:spTree>
    <p:extLst>
      <p:ext uri="{BB962C8B-B14F-4D97-AF65-F5344CB8AC3E}">
        <p14:creationId xmlns:p14="http://schemas.microsoft.com/office/powerpoint/2010/main" val="1204781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2F4126-CC07-E54A-98FA-3CE58548C08F}"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59029-936F-B141-9602-86906A550CED}"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8993375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2F4126-CC07-E54A-98FA-3CE58548C08F}"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159029-936F-B141-9602-86906A550CED}" type="slidenum">
              <a:rPr lang="en-US" smtClean="0"/>
              <a:t>‹#›</a:t>
            </a:fld>
            <a:endParaRPr lang="en-US"/>
          </a:p>
        </p:txBody>
      </p:sp>
    </p:spTree>
    <p:extLst>
      <p:ext uri="{BB962C8B-B14F-4D97-AF65-F5344CB8AC3E}">
        <p14:creationId xmlns:p14="http://schemas.microsoft.com/office/powerpoint/2010/main" val="3051199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A2F4126-CC07-E54A-98FA-3CE58548C08F}" type="datetimeFigureOut">
              <a:rPr lang="en-US" smtClean="0"/>
              <a:t>11/5/25</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E159029-936F-B141-9602-86906A550CED}" type="slidenum">
              <a:rPr lang="en-US" smtClean="0"/>
              <a:t>‹#›</a:t>
            </a:fld>
            <a:endParaRPr lang="en-US"/>
          </a:p>
        </p:txBody>
      </p:sp>
    </p:spTree>
    <p:extLst>
      <p:ext uri="{BB962C8B-B14F-4D97-AF65-F5344CB8AC3E}">
        <p14:creationId xmlns:p14="http://schemas.microsoft.com/office/powerpoint/2010/main" val="360710158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1.jpe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github.com/puneetb96/ClimateWins_Machine_Learning_Analysis" TargetMode="External"/><Relationship Id="rId5" Type="http://schemas.openxmlformats.org/officeDocument/2006/relationships/image" Target="../media/image25.jpeg"/><Relationship Id="rId10" Type="http://schemas.openxmlformats.org/officeDocument/2006/relationships/image" Target="../media/image29.svg"/><Relationship Id="rId4" Type="http://schemas.openxmlformats.org/officeDocument/2006/relationships/image" Target="../media/image2.png"/><Relationship Id="rId9"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DC895F7-4E59-40FB-87DD-ACE47F94C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62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loating paper clouds">
            <a:extLst>
              <a:ext uri="{FF2B5EF4-FFF2-40B4-BE49-F238E27FC236}">
                <a16:creationId xmlns:a16="http://schemas.microsoft.com/office/drawing/2014/main" id="{D27BE490-BAD6-0EBB-A397-93BF6B586D11}"/>
              </a:ext>
            </a:extLst>
          </p:cNvPr>
          <p:cNvPicPr>
            <a:picLocks noChangeAspect="1"/>
          </p:cNvPicPr>
          <p:nvPr/>
        </p:nvPicPr>
        <p:blipFill>
          <a:blip r:embed="rId3">
            <a:alphaModFix amt="20000"/>
          </a:blip>
          <a:srcRect t="8638" b="7093"/>
          <a:stretch>
            <a:fillRect/>
          </a:stretch>
        </p:blipFill>
        <p:spPr>
          <a:xfrm>
            <a:off x="20" y="10"/>
            <a:ext cx="12191980" cy="6857990"/>
          </a:xfrm>
          <a:prstGeom prst="rect">
            <a:avLst/>
          </a:prstGeom>
        </p:spPr>
      </p:pic>
      <p:pic>
        <p:nvPicPr>
          <p:cNvPr id="18" name="Picture 17">
            <a:extLst>
              <a:ext uri="{FF2B5EF4-FFF2-40B4-BE49-F238E27FC236}">
                <a16:creationId xmlns:a16="http://schemas.microsoft.com/office/drawing/2014/main" id="{1A4C720E-710D-44F8-A8D7-2BAA61E1814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5100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a:extLst>
              <a:ext uri="{FF2B5EF4-FFF2-40B4-BE49-F238E27FC236}">
                <a16:creationId xmlns:a16="http://schemas.microsoft.com/office/drawing/2014/main" id="{C7F4CA44-1CB4-C9C2-2029-0FDECB0DA01D}"/>
              </a:ext>
            </a:extLst>
          </p:cNvPr>
          <p:cNvSpPr>
            <a:spLocks noGrp="1"/>
          </p:cNvSpPr>
          <p:nvPr>
            <p:ph type="ctrTitle"/>
          </p:nvPr>
        </p:nvSpPr>
        <p:spPr>
          <a:xfrm>
            <a:off x="2470710" y="1964267"/>
            <a:ext cx="9721290" cy="2421464"/>
          </a:xfrm>
        </p:spPr>
        <p:txBody>
          <a:bodyPr>
            <a:normAutofit/>
          </a:bodyPr>
          <a:lstStyle/>
          <a:p>
            <a:r>
              <a:rPr lang="en-US" dirty="0">
                <a:latin typeface="American Typewriter" panose="02090604020004020304" pitchFamily="18" charset="77"/>
                <a:ea typeface="Krungthep" panose="02000400000000000000" pitchFamily="2" charset="-34"/>
                <a:cs typeface="Krungthep" panose="02000400000000000000" pitchFamily="2" charset="-34"/>
              </a:rPr>
              <a:t>Weather Conditions &amp; Climate Change Analysis for </a:t>
            </a:r>
            <a:r>
              <a:rPr lang="en-US" dirty="0" err="1">
                <a:latin typeface="American Typewriter" panose="02090604020004020304" pitchFamily="18" charset="77"/>
                <a:ea typeface="Krungthep" panose="02000400000000000000" pitchFamily="2" charset="-34"/>
                <a:cs typeface="Krungthep" panose="02000400000000000000" pitchFamily="2" charset="-34"/>
              </a:rPr>
              <a:t>CLimateWINS</a:t>
            </a:r>
            <a:endParaRPr lang="en-US" dirty="0">
              <a:latin typeface="American Typewriter" panose="02090604020004020304" pitchFamily="18" charset="77"/>
              <a:ea typeface="Krungthep" panose="02000400000000000000" pitchFamily="2" charset="-34"/>
              <a:cs typeface="Krungthep" panose="02000400000000000000" pitchFamily="2" charset="-34"/>
            </a:endParaRPr>
          </a:p>
        </p:txBody>
      </p:sp>
      <p:sp>
        <p:nvSpPr>
          <p:cNvPr id="3" name="Subtitle 2">
            <a:extLst>
              <a:ext uri="{FF2B5EF4-FFF2-40B4-BE49-F238E27FC236}">
                <a16:creationId xmlns:a16="http://schemas.microsoft.com/office/drawing/2014/main" id="{56947798-9759-AB46-0E5E-9B137DE87874}"/>
              </a:ext>
            </a:extLst>
          </p:cNvPr>
          <p:cNvSpPr>
            <a:spLocks noGrp="1"/>
          </p:cNvSpPr>
          <p:nvPr>
            <p:ph type="subTitle" idx="1"/>
          </p:nvPr>
        </p:nvSpPr>
        <p:spPr>
          <a:xfrm>
            <a:off x="4991099" y="5452533"/>
            <a:ext cx="7197726" cy="1405467"/>
          </a:xfrm>
        </p:spPr>
        <p:txBody>
          <a:bodyPr>
            <a:normAutofit/>
          </a:bodyPr>
          <a:lstStyle/>
          <a:p>
            <a:r>
              <a:rPr lang="en-US" dirty="0"/>
              <a:t>Puneet Badwal</a:t>
            </a:r>
          </a:p>
          <a:p>
            <a:r>
              <a:rPr lang="en-US" dirty="0"/>
              <a:t>November-2025</a:t>
            </a:r>
          </a:p>
        </p:txBody>
      </p:sp>
    </p:spTree>
    <p:extLst>
      <p:ext uri="{BB962C8B-B14F-4D97-AF65-F5344CB8AC3E}">
        <p14:creationId xmlns:p14="http://schemas.microsoft.com/office/powerpoint/2010/main" val="4022469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56039-9B11-A493-1FC2-0CECA7418F3D}"/>
              </a:ext>
            </a:extLst>
          </p:cNvPr>
          <p:cNvSpPr>
            <a:spLocks noGrp="1"/>
          </p:cNvSpPr>
          <p:nvPr>
            <p:ph type="title"/>
          </p:nvPr>
        </p:nvSpPr>
        <p:spPr>
          <a:xfrm>
            <a:off x="4955458" y="639097"/>
            <a:ext cx="6593075" cy="1612490"/>
          </a:xfrm>
        </p:spPr>
        <p:txBody>
          <a:bodyPr>
            <a:normAutofit/>
          </a:bodyPr>
          <a:lstStyle/>
          <a:p>
            <a:r>
              <a:rPr lang="en-US" sz="2800" dirty="0"/>
              <a:t>Introduction &amp; Project Overview</a:t>
            </a:r>
          </a:p>
        </p:txBody>
      </p:sp>
      <p:pic>
        <p:nvPicPr>
          <p:cNvPr id="6" name="Picture 5" descr="A person holding a globe">
            <a:extLst>
              <a:ext uri="{FF2B5EF4-FFF2-40B4-BE49-F238E27FC236}">
                <a16:creationId xmlns:a16="http://schemas.microsoft.com/office/drawing/2014/main" id="{C3A406EE-1CBE-A55A-9838-F15DC0FCB79A}"/>
              </a:ext>
            </a:extLst>
          </p:cNvPr>
          <p:cNvPicPr>
            <a:picLocks noChangeAspect="1"/>
          </p:cNvPicPr>
          <p:nvPr/>
        </p:nvPicPr>
        <p:blipFill>
          <a:blip r:embed="rId3"/>
          <a:srcRect l="30055" r="29723"/>
          <a:stretch>
            <a:fillRect/>
          </a:stretch>
        </p:blipFill>
        <p:spPr>
          <a:xfrm>
            <a:off x="20" y="975"/>
            <a:ext cx="4635988" cy="6858000"/>
          </a:xfrm>
          <a:prstGeom prst="rect">
            <a:avLst/>
          </a:prstGeom>
        </p:spPr>
      </p:pic>
      <p:sp>
        <p:nvSpPr>
          <p:cNvPr id="3" name="Content Placeholder 2">
            <a:extLst>
              <a:ext uri="{FF2B5EF4-FFF2-40B4-BE49-F238E27FC236}">
                <a16:creationId xmlns:a16="http://schemas.microsoft.com/office/drawing/2014/main" id="{B362F843-8CF9-7308-246E-F84339D6850A}"/>
              </a:ext>
            </a:extLst>
          </p:cNvPr>
          <p:cNvSpPr>
            <a:spLocks noGrp="1"/>
          </p:cNvSpPr>
          <p:nvPr>
            <p:ph idx="1"/>
          </p:nvPr>
        </p:nvSpPr>
        <p:spPr>
          <a:xfrm>
            <a:off x="4955458" y="2251587"/>
            <a:ext cx="6593075" cy="3972232"/>
          </a:xfrm>
        </p:spPr>
        <p:txBody>
          <a:bodyPr anchor="t">
            <a:normAutofit lnSpcReduction="10000"/>
          </a:bodyPr>
          <a:lstStyle/>
          <a:p>
            <a:pPr marL="0" indent="0">
              <a:buNone/>
            </a:pPr>
            <a:r>
              <a:rPr lang="en-US" dirty="0" err="1"/>
              <a:t>ClimateWins</a:t>
            </a:r>
            <a:r>
              <a:rPr lang="en-US" dirty="0"/>
              <a:t> is a European Non-profit Organization that is interested in using machine learning to help </a:t>
            </a:r>
            <a:r>
              <a:rPr lang="en-US" b="1" dirty="0"/>
              <a:t>predict consequences of climate change in Europe, and potentially the world.</a:t>
            </a:r>
          </a:p>
          <a:p>
            <a:pPr marL="0" indent="0">
              <a:buNone/>
            </a:pPr>
            <a:endParaRPr lang="en-US" dirty="0"/>
          </a:p>
          <a:p>
            <a:pPr marL="0" indent="0">
              <a:buNone/>
            </a:pPr>
            <a:r>
              <a:rPr lang="en-US" dirty="0"/>
              <a:t>The company has been sorting through a variety of datasets such as the The National Oceanic and Atmospheric Administration (NOAA) in the US, as well as typhoon data from The Japan </a:t>
            </a:r>
            <a:r>
              <a:rPr lang="en-US" dirty="0" err="1"/>
              <a:t>Meteorogical</a:t>
            </a:r>
            <a:r>
              <a:rPr lang="en-US" dirty="0"/>
              <a:t> Agency (JMA), as well as other world temperature datasets. </a:t>
            </a:r>
          </a:p>
          <a:p>
            <a:pPr marL="0" indent="0">
              <a:buNone/>
            </a:pPr>
            <a:endParaRPr lang="en-US" dirty="0"/>
          </a:p>
          <a:p>
            <a:pPr marL="0" indent="0">
              <a:buNone/>
            </a:pPr>
            <a:r>
              <a:rPr lang="en-US" dirty="0"/>
              <a:t>As a hired data analyst for </a:t>
            </a:r>
            <a:r>
              <a:rPr lang="en-US" dirty="0" err="1"/>
              <a:t>ClimateWins</a:t>
            </a:r>
            <a:r>
              <a:rPr lang="en-US" dirty="0"/>
              <a:t>, it is our job to assess the tools available to categorize and predict the weather in mainland Europe, and use a machine learning model to show what the future holds</a:t>
            </a:r>
          </a:p>
        </p:txBody>
      </p:sp>
    </p:spTree>
    <p:extLst>
      <p:ext uri="{BB962C8B-B14F-4D97-AF65-F5344CB8AC3E}">
        <p14:creationId xmlns:p14="http://schemas.microsoft.com/office/powerpoint/2010/main" val="4043941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BEED6-BA22-B6B5-380F-9F7E97163C38}"/>
              </a:ext>
            </a:extLst>
          </p:cNvPr>
          <p:cNvSpPr>
            <a:spLocks noGrp="1"/>
          </p:cNvSpPr>
          <p:nvPr>
            <p:ph type="title"/>
          </p:nvPr>
        </p:nvSpPr>
        <p:spPr>
          <a:xfrm>
            <a:off x="7865806" y="643463"/>
            <a:ext cx="3706762" cy="1608124"/>
          </a:xfrm>
        </p:spPr>
        <p:txBody>
          <a:bodyPr>
            <a:normAutofit/>
          </a:bodyPr>
          <a:lstStyle/>
          <a:p>
            <a:r>
              <a:rPr lang="en-US" dirty="0"/>
              <a:t>hypothesis</a:t>
            </a:r>
          </a:p>
        </p:txBody>
      </p:sp>
      <p:pic>
        <p:nvPicPr>
          <p:cNvPr id="5" name="Picture 4" descr="Yellow question mark">
            <a:extLst>
              <a:ext uri="{FF2B5EF4-FFF2-40B4-BE49-F238E27FC236}">
                <a16:creationId xmlns:a16="http://schemas.microsoft.com/office/drawing/2014/main" id="{FF0B891D-1E9D-EBA6-8732-179BF289F73D}"/>
              </a:ext>
            </a:extLst>
          </p:cNvPr>
          <p:cNvPicPr>
            <a:picLocks noChangeAspect="1"/>
          </p:cNvPicPr>
          <p:nvPr/>
        </p:nvPicPr>
        <p:blipFill>
          <a:blip r:embed="rId3"/>
          <a:srcRect l="33920"/>
          <a:stretch>
            <a:fillRect/>
          </a:stretch>
        </p:blipFill>
        <p:spPr>
          <a:xfrm>
            <a:off x="20" y="975"/>
            <a:ext cx="6289268" cy="6858000"/>
          </a:xfrm>
          <a:prstGeom prst="rect">
            <a:avLst/>
          </a:prstGeom>
        </p:spPr>
      </p:pic>
      <p:sp>
        <p:nvSpPr>
          <p:cNvPr id="3" name="Content Placeholder 2">
            <a:extLst>
              <a:ext uri="{FF2B5EF4-FFF2-40B4-BE49-F238E27FC236}">
                <a16:creationId xmlns:a16="http://schemas.microsoft.com/office/drawing/2014/main" id="{73D3D6C5-397F-198F-C329-5F84ED38219B}"/>
              </a:ext>
            </a:extLst>
          </p:cNvPr>
          <p:cNvSpPr>
            <a:spLocks noGrp="1"/>
          </p:cNvSpPr>
          <p:nvPr>
            <p:ph idx="1"/>
          </p:nvPr>
        </p:nvSpPr>
        <p:spPr>
          <a:xfrm>
            <a:off x="6612673" y="2251587"/>
            <a:ext cx="4959895" cy="3972232"/>
          </a:xfrm>
        </p:spPr>
        <p:txBody>
          <a:bodyPr anchor="t">
            <a:normAutofit/>
          </a:bodyPr>
          <a:lstStyle/>
          <a:p>
            <a:pPr marL="342900" indent="-342900">
              <a:buFont typeface="+mj-lt"/>
              <a:buAutoNum type="arabicPeriod"/>
            </a:pPr>
            <a:r>
              <a:rPr lang="en-US" dirty="0"/>
              <a:t>One or multiple machine learning algorithms will be able to accurately predict future weather patterns </a:t>
            </a:r>
          </a:p>
          <a:p>
            <a:pPr marL="342900" indent="-342900">
              <a:buFont typeface="+mj-lt"/>
              <a:buAutoNum type="arabicPeriod"/>
            </a:pPr>
            <a:endParaRPr lang="en-US" dirty="0"/>
          </a:p>
          <a:p>
            <a:pPr marL="342900" indent="-342900">
              <a:buFont typeface="+mj-lt"/>
              <a:buAutoNum type="arabicPeriod"/>
            </a:pPr>
            <a:r>
              <a:rPr lang="en-US" dirty="0"/>
              <a:t>The weather patterns and behaviors predicted will differ by geographic location as well as other regional conditions specific to that country or area</a:t>
            </a:r>
          </a:p>
          <a:p>
            <a:pPr marL="342900" indent="-342900">
              <a:buFont typeface="+mj-lt"/>
              <a:buAutoNum type="arabicPeriod"/>
            </a:pPr>
            <a:endParaRPr lang="en-US" dirty="0"/>
          </a:p>
          <a:p>
            <a:pPr marL="342900" indent="-342900">
              <a:buFont typeface="+mj-lt"/>
              <a:buAutoNum type="arabicPeriod"/>
            </a:pPr>
            <a:r>
              <a:rPr lang="en-US" dirty="0"/>
              <a:t>Overall, temperatures in all the European cities are rising due to moder day global conditions</a:t>
            </a:r>
          </a:p>
        </p:txBody>
      </p:sp>
    </p:spTree>
    <p:extLst>
      <p:ext uri="{BB962C8B-B14F-4D97-AF65-F5344CB8AC3E}">
        <p14:creationId xmlns:p14="http://schemas.microsoft.com/office/powerpoint/2010/main" val="4173929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597D60-26DC-1F2E-C26A-5D9E484DB4A2}"/>
              </a:ext>
            </a:extLst>
          </p:cNvPr>
          <p:cNvSpPr>
            <a:spLocks noGrp="1"/>
          </p:cNvSpPr>
          <p:nvPr>
            <p:ph type="title"/>
          </p:nvPr>
        </p:nvSpPr>
        <p:spPr>
          <a:xfrm>
            <a:off x="685799" y="1150076"/>
            <a:ext cx="3659389" cy="4557849"/>
          </a:xfrm>
        </p:spPr>
        <p:txBody>
          <a:bodyPr>
            <a:normAutofit/>
          </a:bodyPr>
          <a:lstStyle/>
          <a:p>
            <a:pPr algn="r"/>
            <a:r>
              <a:rPr lang="en-US" dirty="0"/>
              <a:t>About the data</a:t>
            </a:r>
          </a:p>
        </p:txBody>
      </p:sp>
      <p:cxnSp>
        <p:nvCxnSpPr>
          <p:cNvPr id="10" name="Straight Connector 9">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66923" y="1668780"/>
            <a:ext cx="0" cy="352044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13F57C-FEA7-688A-CD21-562FD0D83983}"/>
              </a:ext>
            </a:extLst>
          </p:cNvPr>
          <p:cNvSpPr>
            <a:spLocks noGrp="1"/>
          </p:cNvSpPr>
          <p:nvPr>
            <p:ph idx="1"/>
          </p:nvPr>
        </p:nvSpPr>
        <p:spPr>
          <a:xfrm>
            <a:off x="4988658" y="1150076"/>
            <a:ext cx="6517543" cy="4557849"/>
          </a:xfrm>
        </p:spPr>
        <p:txBody>
          <a:bodyPr>
            <a:normAutofit/>
          </a:bodyPr>
          <a:lstStyle/>
          <a:p>
            <a:r>
              <a:rPr lang="en-US" dirty="0"/>
              <a:t>Collected by the European Climate Assessment &amp; Dataset Project (ECA&amp;D)</a:t>
            </a:r>
          </a:p>
          <a:p>
            <a:r>
              <a:rPr lang="en-US" dirty="0"/>
              <a:t>Data Range: 1800s-2022</a:t>
            </a:r>
          </a:p>
          <a:p>
            <a:r>
              <a:rPr lang="en-US" dirty="0"/>
              <a:t>Weather observations across 18 different weather stations across Europe</a:t>
            </a:r>
          </a:p>
          <a:p>
            <a:r>
              <a:rPr lang="en-US" dirty="0"/>
              <a:t>Key data variables include temperature, wind speed, snow, global radiation, and much more</a:t>
            </a:r>
          </a:p>
        </p:txBody>
      </p:sp>
    </p:spTree>
    <p:extLst>
      <p:ext uri="{BB962C8B-B14F-4D97-AF65-F5344CB8AC3E}">
        <p14:creationId xmlns:p14="http://schemas.microsoft.com/office/powerpoint/2010/main" val="2819196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5B64D-A345-7C46-840E-9DE915F456B2}"/>
              </a:ext>
            </a:extLst>
          </p:cNvPr>
          <p:cNvSpPr>
            <a:spLocks noGrp="1"/>
          </p:cNvSpPr>
          <p:nvPr>
            <p:ph type="title"/>
          </p:nvPr>
        </p:nvSpPr>
        <p:spPr/>
        <p:txBody>
          <a:bodyPr/>
          <a:lstStyle/>
          <a:p>
            <a:r>
              <a:rPr lang="en-US" dirty="0"/>
              <a:t>Data bias</a:t>
            </a:r>
          </a:p>
        </p:txBody>
      </p:sp>
      <p:sp>
        <p:nvSpPr>
          <p:cNvPr id="3" name="Content Placeholder 2">
            <a:extLst>
              <a:ext uri="{FF2B5EF4-FFF2-40B4-BE49-F238E27FC236}">
                <a16:creationId xmlns:a16="http://schemas.microsoft.com/office/drawing/2014/main" id="{532F8E5E-255F-8FF5-33DE-74869BCA484E}"/>
              </a:ext>
            </a:extLst>
          </p:cNvPr>
          <p:cNvSpPr>
            <a:spLocks noGrp="1"/>
          </p:cNvSpPr>
          <p:nvPr>
            <p:ph idx="1"/>
          </p:nvPr>
        </p:nvSpPr>
        <p:spPr>
          <a:xfrm>
            <a:off x="1600201" y="2147219"/>
            <a:ext cx="10131425" cy="854521"/>
          </a:xfrm>
        </p:spPr>
        <p:txBody>
          <a:bodyPr/>
          <a:lstStyle/>
          <a:p>
            <a:pPr marL="0" indent="0">
              <a:buNone/>
            </a:pPr>
            <a:r>
              <a:rPr lang="en-US" b="1" dirty="0"/>
              <a:t>Data Collection: </a:t>
            </a:r>
            <a:r>
              <a:rPr lang="en-US" dirty="0"/>
              <a:t>The way in which the data was collected (especially older data), can be prone to human error or human bias. </a:t>
            </a:r>
            <a:endParaRPr lang="en-US" b="1" dirty="0"/>
          </a:p>
        </p:txBody>
      </p:sp>
      <p:sp>
        <p:nvSpPr>
          <p:cNvPr id="4" name="Content Placeholder 2">
            <a:extLst>
              <a:ext uri="{FF2B5EF4-FFF2-40B4-BE49-F238E27FC236}">
                <a16:creationId xmlns:a16="http://schemas.microsoft.com/office/drawing/2014/main" id="{F0CF8FE3-1736-D500-032E-8A9B714B2D7E}"/>
              </a:ext>
            </a:extLst>
          </p:cNvPr>
          <p:cNvSpPr txBox="1">
            <a:spLocks/>
          </p:cNvSpPr>
          <p:nvPr/>
        </p:nvSpPr>
        <p:spPr>
          <a:xfrm>
            <a:off x="1600200" y="3431754"/>
            <a:ext cx="10131425" cy="854521"/>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b="1" dirty="0"/>
              <a:t>Temporal Bias: </a:t>
            </a:r>
            <a:r>
              <a:rPr lang="en-US" dirty="0"/>
              <a:t>Since the data is from over 200 years old, current conditions may not be accurately presented by older data (climate change). Collection of all this data over time reduces data accuracy</a:t>
            </a:r>
            <a:endParaRPr lang="en-US" b="1" dirty="0"/>
          </a:p>
        </p:txBody>
      </p:sp>
      <p:sp>
        <p:nvSpPr>
          <p:cNvPr id="5" name="Content Placeholder 2">
            <a:extLst>
              <a:ext uri="{FF2B5EF4-FFF2-40B4-BE49-F238E27FC236}">
                <a16:creationId xmlns:a16="http://schemas.microsoft.com/office/drawing/2014/main" id="{0EF4EB9F-F9FE-695D-3430-916C0FD7D87A}"/>
              </a:ext>
            </a:extLst>
          </p:cNvPr>
          <p:cNvSpPr txBox="1">
            <a:spLocks/>
          </p:cNvSpPr>
          <p:nvPr/>
        </p:nvSpPr>
        <p:spPr>
          <a:xfrm>
            <a:off x="1600199" y="4716289"/>
            <a:ext cx="10131425" cy="854521"/>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b="1" dirty="0"/>
              <a:t>Data Diversification: </a:t>
            </a:r>
            <a:r>
              <a:rPr lang="en-US" dirty="0"/>
              <a:t>Larger areas and regions may be overrepresented in the machine learning models </a:t>
            </a:r>
            <a:endParaRPr lang="en-US" b="1" dirty="0"/>
          </a:p>
        </p:txBody>
      </p:sp>
      <p:pic>
        <p:nvPicPr>
          <p:cNvPr id="9" name="Graphic 8" descr="Tally with solid fill">
            <a:extLst>
              <a:ext uri="{FF2B5EF4-FFF2-40B4-BE49-F238E27FC236}">
                <a16:creationId xmlns:a16="http://schemas.microsoft.com/office/drawing/2014/main" id="{A6E3F720-00AE-66AE-3919-6B9D6434F5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4092" y="2084586"/>
            <a:ext cx="914400" cy="914400"/>
          </a:xfrm>
          <a:prstGeom prst="rect">
            <a:avLst/>
          </a:prstGeom>
        </p:spPr>
      </p:pic>
      <p:pic>
        <p:nvPicPr>
          <p:cNvPr id="11" name="Graphic 10" descr="Clock with solid fill">
            <a:extLst>
              <a:ext uri="{FF2B5EF4-FFF2-40B4-BE49-F238E27FC236}">
                <a16:creationId xmlns:a16="http://schemas.microsoft.com/office/drawing/2014/main" id="{643F3722-1068-D0C7-077D-4A799EE6219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4092" y="3401814"/>
            <a:ext cx="914400" cy="914400"/>
          </a:xfrm>
          <a:prstGeom prst="rect">
            <a:avLst/>
          </a:prstGeom>
        </p:spPr>
      </p:pic>
      <p:pic>
        <p:nvPicPr>
          <p:cNvPr id="15" name="Graphic 14" descr="Brain in head with solid fill">
            <a:extLst>
              <a:ext uri="{FF2B5EF4-FFF2-40B4-BE49-F238E27FC236}">
                <a16:creationId xmlns:a16="http://schemas.microsoft.com/office/drawing/2014/main" id="{A8912977-715D-EE9B-12CF-1FE0D968B34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4092" y="4635703"/>
            <a:ext cx="914400" cy="914400"/>
          </a:xfrm>
          <a:prstGeom prst="rect">
            <a:avLst/>
          </a:prstGeom>
        </p:spPr>
      </p:pic>
    </p:spTree>
    <p:extLst>
      <p:ext uri="{BB962C8B-B14F-4D97-AF65-F5344CB8AC3E}">
        <p14:creationId xmlns:p14="http://schemas.microsoft.com/office/powerpoint/2010/main" val="939901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40F35-4224-C391-DE2B-D55B02D9F9BE}"/>
              </a:ext>
            </a:extLst>
          </p:cNvPr>
          <p:cNvSpPr>
            <a:spLocks noGrp="1"/>
          </p:cNvSpPr>
          <p:nvPr>
            <p:ph type="title"/>
          </p:nvPr>
        </p:nvSpPr>
        <p:spPr>
          <a:xfrm>
            <a:off x="1361187" y="1030288"/>
            <a:ext cx="4099947" cy="1035579"/>
          </a:xfrm>
        </p:spPr>
        <p:txBody>
          <a:bodyPr>
            <a:normAutofit/>
          </a:bodyPr>
          <a:lstStyle/>
          <a:p>
            <a:r>
              <a:rPr lang="en-US" dirty="0"/>
              <a:t>optimization</a:t>
            </a:r>
          </a:p>
        </p:txBody>
      </p:sp>
      <p:sp>
        <p:nvSpPr>
          <p:cNvPr id="12" name="Rectangle 11">
            <a:extLst>
              <a:ext uri="{FF2B5EF4-FFF2-40B4-BE49-F238E27FC236}">
                <a16:creationId xmlns:a16="http://schemas.microsoft.com/office/drawing/2014/main" id="{1C04857D-B1C1-41ED-B1B4-E3D6E3C7C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797333" y="4261157"/>
            <a:ext cx="2971800" cy="170837"/>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0EBB00E-880F-994A-8633-91DB63B82F99}"/>
              </a:ext>
            </a:extLst>
          </p:cNvPr>
          <p:cNvSpPr>
            <a:spLocks noGrp="1"/>
          </p:cNvSpPr>
          <p:nvPr>
            <p:ph idx="1"/>
          </p:nvPr>
        </p:nvSpPr>
        <p:spPr>
          <a:xfrm>
            <a:off x="1361187" y="2140224"/>
            <a:ext cx="4099947" cy="3649133"/>
          </a:xfrm>
        </p:spPr>
        <p:txBody>
          <a:bodyPr>
            <a:normAutofit lnSpcReduction="10000"/>
          </a:bodyPr>
          <a:lstStyle/>
          <a:p>
            <a:r>
              <a:rPr lang="en-US" dirty="0"/>
              <a:t>The data optimization technique used was </a:t>
            </a:r>
            <a:r>
              <a:rPr lang="en-US" b="1" dirty="0"/>
              <a:t>Gradient Decent </a:t>
            </a:r>
            <a:r>
              <a:rPr lang="en-US" dirty="0"/>
              <a:t>across multiple weather stations</a:t>
            </a:r>
            <a:endParaRPr lang="en-US" b="1" dirty="0"/>
          </a:p>
          <a:p>
            <a:endParaRPr lang="en-US" b="1" dirty="0"/>
          </a:p>
          <a:p>
            <a:r>
              <a:rPr lang="en-US" dirty="0"/>
              <a:t>Gradient Decent:</a:t>
            </a:r>
          </a:p>
          <a:p>
            <a:pPr lvl="1"/>
            <a:r>
              <a:rPr lang="en-US" dirty="0"/>
              <a:t>The model continuously adjusts its parameters to reduce error (minimize loss function)</a:t>
            </a:r>
          </a:p>
          <a:p>
            <a:pPr lvl="1"/>
            <a:r>
              <a:rPr lang="en-US" dirty="0"/>
              <a:t>The model works through iterations to accurately reduce the loss</a:t>
            </a:r>
          </a:p>
          <a:p>
            <a:pPr lvl="1"/>
            <a:r>
              <a:rPr lang="en-US" dirty="0"/>
              <a:t>Once the model converges to 0, the model is stable and accurate </a:t>
            </a:r>
          </a:p>
        </p:txBody>
      </p:sp>
      <p:sp>
        <p:nvSpPr>
          <p:cNvPr id="14" name="Rounded Rectangle 32">
            <a:extLst>
              <a:ext uri="{FF2B5EF4-FFF2-40B4-BE49-F238E27FC236}">
                <a16:creationId xmlns:a16="http://schemas.microsoft.com/office/drawing/2014/main" id="{E5A9FA1E-7A9B-4CDA-91BB-87575F63E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2585" y="639097"/>
            <a:ext cx="5433751" cy="5575438"/>
          </a:xfrm>
          <a:prstGeom prst="roundRect">
            <a:avLst>
              <a:gd name="adj" fmla="val 3449"/>
            </a:avLst>
          </a:prstGeom>
          <a:solidFill>
            <a:schemeClr val="tx1"/>
          </a:solid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aph of a function&#10;&#10;AI-generated content may be incorrect.">
            <a:extLst>
              <a:ext uri="{FF2B5EF4-FFF2-40B4-BE49-F238E27FC236}">
                <a16:creationId xmlns:a16="http://schemas.microsoft.com/office/drawing/2014/main" id="{2D5C9BEC-3597-202D-0DAC-DD936E9C3B6E}"/>
              </a:ext>
            </a:extLst>
          </p:cNvPr>
          <p:cNvPicPr>
            <a:picLocks noChangeAspect="1"/>
          </p:cNvPicPr>
          <p:nvPr/>
        </p:nvPicPr>
        <p:blipFill>
          <a:blip r:embed="rId4"/>
          <a:stretch>
            <a:fillRect/>
          </a:stretch>
        </p:blipFill>
        <p:spPr>
          <a:xfrm>
            <a:off x="6349078" y="737444"/>
            <a:ext cx="3169894" cy="2916302"/>
          </a:xfrm>
          <a:prstGeom prst="roundRect">
            <a:avLst>
              <a:gd name="adj" fmla="val 4207"/>
            </a:avLst>
          </a:prstGeom>
          <a:ln w="50800" cap="sq" cmpd="dbl">
            <a:noFill/>
            <a:miter lim="800000"/>
          </a:ln>
          <a:effectLst/>
        </p:spPr>
      </p:pic>
      <p:pic>
        <p:nvPicPr>
          <p:cNvPr id="5" name="Picture 4">
            <a:extLst>
              <a:ext uri="{FF2B5EF4-FFF2-40B4-BE49-F238E27FC236}">
                <a16:creationId xmlns:a16="http://schemas.microsoft.com/office/drawing/2014/main" id="{6F001E26-DA05-B68B-F95E-947E93F3DAD7}"/>
              </a:ext>
            </a:extLst>
          </p:cNvPr>
          <p:cNvPicPr>
            <a:picLocks noChangeAspect="1"/>
          </p:cNvPicPr>
          <p:nvPr/>
        </p:nvPicPr>
        <p:blipFill>
          <a:blip r:embed="rId5"/>
          <a:stretch>
            <a:fillRect/>
          </a:stretch>
        </p:blipFill>
        <p:spPr>
          <a:xfrm>
            <a:off x="7588830" y="3426816"/>
            <a:ext cx="3860284" cy="2789055"/>
          </a:xfrm>
          <a:prstGeom prst="roundRect">
            <a:avLst>
              <a:gd name="adj" fmla="val 4528"/>
            </a:avLst>
          </a:prstGeom>
          <a:ln w="50800" cap="sq" cmpd="dbl">
            <a:noFill/>
            <a:miter lim="800000"/>
          </a:ln>
          <a:effectLst/>
        </p:spPr>
      </p:pic>
    </p:spTree>
    <p:extLst>
      <p:ext uri="{BB962C8B-B14F-4D97-AF65-F5344CB8AC3E}">
        <p14:creationId xmlns:p14="http://schemas.microsoft.com/office/powerpoint/2010/main" val="917304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5C60-53FD-A4FF-C868-A4B683327874}"/>
              </a:ext>
            </a:extLst>
          </p:cNvPr>
          <p:cNvSpPr>
            <a:spLocks noGrp="1"/>
          </p:cNvSpPr>
          <p:nvPr>
            <p:ph type="title"/>
          </p:nvPr>
        </p:nvSpPr>
        <p:spPr>
          <a:xfrm>
            <a:off x="451334" y="808057"/>
            <a:ext cx="5270091" cy="1453363"/>
          </a:xfrm>
        </p:spPr>
        <p:txBody>
          <a:bodyPr>
            <a:normAutofit/>
          </a:bodyPr>
          <a:lstStyle/>
          <a:p>
            <a:r>
              <a:rPr lang="en-US" dirty="0"/>
              <a:t>Method 1: KNN Model</a:t>
            </a:r>
          </a:p>
        </p:txBody>
      </p:sp>
      <p:sp>
        <p:nvSpPr>
          <p:cNvPr id="3" name="Content Placeholder 2">
            <a:extLst>
              <a:ext uri="{FF2B5EF4-FFF2-40B4-BE49-F238E27FC236}">
                <a16:creationId xmlns:a16="http://schemas.microsoft.com/office/drawing/2014/main" id="{0FC4E42C-62D5-93B7-85F2-F1A423964D32}"/>
              </a:ext>
            </a:extLst>
          </p:cNvPr>
          <p:cNvSpPr>
            <a:spLocks noGrp="1"/>
          </p:cNvSpPr>
          <p:nvPr>
            <p:ph idx="1"/>
          </p:nvPr>
        </p:nvSpPr>
        <p:spPr>
          <a:xfrm>
            <a:off x="869075" y="1997015"/>
            <a:ext cx="4002936" cy="4701240"/>
          </a:xfrm>
        </p:spPr>
        <p:txBody>
          <a:bodyPr>
            <a:normAutofit/>
          </a:bodyPr>
          <a:lstStyle/>
          <a:p>
            <a:pPr>
              <a:lnSpc>
                <a:spcPct val="90000"/>
              </a:lnSpc>
            </a:pPr>
            <a:r>
              <a:rPr lang="en-US" sz="1500" dirty="0"/>
              <a:t>The K-Nearest Neighbor (KNN) model predicts outcomes by measuring the distance between new data points and all other data points in the training set.</a:t>
            </a:r>
          </a:p>
          <a:p>
            <a:pPr marL="0" indent="0">
              <a:lnSpc>
                <a:spcPct val="90000"/>
              </a:lnSpc>
              <a:buNone/>
            </a:pPr>
            <a:r>
              <a:rPr lang="en-US" sz="1500" dirty="0"/>
              <a:t> </a:t>
            </a:r>
          </a:p>
          <a:p>
            <a:pPr>
              <a:lnSpc>
                <a:spcPct val="90000"/>
              </a:lnSpc>
            </a:pPr>
            <a:r>
              <a:rPr lang="en-US" sz="1500" dirty="0"/>
              <a:t>The table on the right shows the results of the KNN model for all weather stations: </a:t>
            </a:r>
            <a:r>
              <a:rPr lang="en-US" sz="1500" b="1" dirty="0"/>
              <a:t>Average accuracy 88%</a:t>
            </a:r>
          </a:p>
          <a:p>
            <a:pPr marL="0" indent="0">
              <a:lnSpc>
                <a:spcPct val="90000"/>
              </a:lnSpc>
              <a:buNone/>
            </a:pPr>
            <a:endParaRPr lang="en-US" sz="1500" b="1" dirty="0"/>
          </a:p>
          <a:p>
            <a:pPr>
              <a:lnSpc>
                <a:spcPct val="90000"/>
              </a:lnSpc>
            </a:pPr>
            <a:r>
              <a:rPr lang="en-US" sz="1500" dirty="0"/>
              <a:t>The accuracy of the model can be enhanced with a diverse dataset across a broader range of weather conditions. This may reduce the difference in accuracy across the different weather stations</a:t>
            </a:r>
          </a:p>
          <a:p>
            <a:pPr marL="0" indent="0">
              <a:lnSpc>
                <a:spcPct val="90000"/>
              </a:lnSpc>
              <a:buNone/>
            </a:pPr>
            <a:endParaRPr lang="en-US" sz="1500" dirty="0"/>
          </a:p>
          <a:p>
            <a:pPr>
              <a:lnSpc>
                <a:spcPct val="90000"/>
              </a:lnSpc>
            </a:pPr>
            <a:r>
              <a:rPr lang="en-US" sz="1500" dirty="0"/>
              <a:t>Model may be overfitting in some cases (</a:t>
            </a:r>
            <a:r>
              <a:rPr lang="en-US" sz="1500" dirty="0" err="1"/>
              <a:t>Sonnblick</a:t>
            </a:r>
            <a:r>
              <a:rPr lang="en-US" sz="1500" dirty="0"/>
              <a:t>)</a:t>
            </a:r>
          </a:p>
        </p:txBody>
      </p:sp>
      <p:pic>
        <p:nvPicPr>
          <p:cNvPr id="7" name="Picture 6">
            <a:extLst>
              <a:ext uri="{FF2B5EF4-FFF2-40B4-BE49-F238E27FC236}">
                <a16:creationId xmlns:a16="http://schemas.microsoft.com/office/drawing/2014/main" id="{D1126269-8F37-E4C1-D7FF-67D983A0BE8B}"/>
              </a:ext>
            </a:extLst>
          </p:cNvPr>
          <p:cNvPicPr>
            <a:picLocks noChangeAspect="1"/>
          </p:cNvPicPr>
          <p:nvPr/>
        </p:nvPicPr>
        <p:blipFill>
          <a:blip r:embed="rId4"/>
          <a:srcRect l="65" r="65"/>
          <a:stretch/>
        </p:blipFill>
        <p:spPr>
          <a:xfrm>
            <a:off x="5289752" y="2159450"/>
            <a:ext cx="6758872" cy="4376369"/>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703811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D40F7-3029-5DE9-4D27-B06DAEC86A53}"/>
              </a:ext>
            </a:extLst>
          </p:cNvPr>
          <p:cNvSpPr>
            <a:spLocks noGrp="1"/>
          </p:cNvSpPr>
          <p:nvPr>
            <p:ph type="title"/>
          </p:nvPr>
        </p:nvSpPr>
        <p:spPr>
          <a:xfrm>
            <a:off x="4955458" y="639097"/>
            <a:ext cx="6593075" cy="1612490"/>
          </a:xfrm>
        </p:spPr>
        <p:txBody>
          <a:bodyPr>
            <a:normAutofit/>
          </a:bodyPr>
          <a:lstStyle/>
          <a:p>
            <a:r>
              <a:rPr lang="en-US" dirty="0"/>
              <a:t>Method 2: Decision Tree model</a:t>
            </a:r>
          </a:p>
        </p:txBody>
      </p:sp>
      <p:pic>
        <p:nvPicPr>
          <p:cNvPr id="5" name="Picture 4" descr="Small tree">
            <a:extLst>
              <a:ext uri="{FF2B5EF4-FFF2-40B4-BE49-F238E27FC236}">
                <a16:creationId xmlns:a16="http://schemas.microsoft.com/office/drawing/2014/main" id="{9A5F7C65-60A6-1CF1-6FE1-0C1AE48BAB9B}"/>
              </a:ext>
            </a:extLst>
          </p:cNvPr>
          <p:cNvPicPr>
            <a:picLocks noChangeAspect="1"/>
          </p:cNvPicPr>
          <p:nvPr/>
        </p:nvPicPr>
        <p:blipFill>
          <a:blip r:embed="rId4"/>
          <a:srcRect l="18102" r="36774" b="-2"/>
          <a:stretch>
            <a:fillRect/>
          </a:stretch>
        </p:blipFill>
        <p:spPr>
          <a:xfrm>
            <a:off x="20" y="975"/>
            <a:ext cx="4635988" cy="6858000"/>
          </a:xfrm>
          <a:prstGeom prst="rect">
            <a:avLst/>
          </a:prstGeom>
        </p:spPr>
      </p:pic>
      <p:sp>
        <p:nvSpPr>
          <p:cNvPr id="3" name="Content Placeholder 2">
            <a:extLst>
              <a:ext uri="{FF2B5EF4-FFF2-40B4-BE49-F238E27FC236}">
                <a16:creationId xmlns:a16="http://schemas.microsoft.com/office/drawing/2014/main" id="{E215C535-2791-594C-87F1-7991A1E00799}"/>
              </a:ext>
            </a:extLst>
          </p:cNvPr>
          <p:cNvSpPr>
            <a:spLocks noGrp="1"/>
          </p:cNvSpPr>
          <p:nvPr>
            <p:ph idx="1"/>
          </p:nvPr>
        </p:nvSpPr>
        <p:spPr>
          <a:xfrm>
            <a:off x="4955458" y="2251587"/>
            <a:ext cx="6593075" cy="3972232"/>
          </a:xfrm>
        </p:spPr>
        <p:txBody>
          <a:bodyPr>
            <a:normAutofit/>
          </a:bodyPr>
          <a:lstStyle/>
          <a:p>
            <a:r>
              <a:rPr lang="en-US" dirty="0"/>
              <a:t>The Decision Tree Model makes predictions by following a sequence of questions based on features of the dataset</a:t>
            </a:r>
          </a:p>
          <a:p>
            <a:r>
              <a:rPr lang="en-US" dirty="0"/>
              <a:t>The “tree” consists of nodes and branches guiding to new data points according to the best fit</a:t>
            </a:r>
          </a:p>
          <a:p>
            <a:r>
              <a:rPr lang="en-US" dirty="0"/>
              <a:t>The model produced a </a:t>
            </a:r>
            <a:r>
              <a:rPr lang="en-US" b="1" dirty="0"/>
              <a:t>training accuracy of 46%, </a:t>
            </a:r>
            <a:r>
              <a:rPr lang="en-US" dirty="0"/>
              <a:t>and a </a:t>
            </a:r>
            <a:r>
              <a:rPr lang="en-US" b="1" dirty="0"/>
              <a:t>testing accuracy of 47%</a:t>
            </a:r>
          </a:p>
          <a:p>
            <a:r>
              <a:rPr lang="en-US" dirty="0"/>
              <a:t>While the model is simpler in nature than the others, the tree may be too complex with this many branches and nodes for this weather dataset</a:t>
            </a:r>
          </a:p>
        </p:txBody>
      </p:sp>
    </p:spTree>
    <p:extLst>
      <p:ext uri="{BB962C8B-B14F-4D97-AF65-F5344CB8AC3E}">
        <p14:creationId xmlns:p14="http://schemas.microsoft.com/office/powerpoint/2010/main" val="1827196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BBCD-BEC1-F8B4-78DA-3EB9662D447D}"/>
              </a:ext>
            </a:extLst>
          </p:cNvPr>
          <p:cNvSpPr>
            <a:spLocks noGrp="1"/>
          </p:cNvSpPr>
          <p:nvPr>
            <p:ph type="title"/>
          </p:nvPr>
        </p:nvSpPr>
        <p:spPr>
          <a:xfrm>
            <a:off x="7865806" y="643463"/>
            <a:ext cx="3706762" cy="1608124"/>
          </a:xfrm>
        </p:spPr>
        <p:txBody>
          <a:bodyPr>
            <a:normAutofit/>
          </a:bodyPr>
          <a:lstStyle/>
          <a:p>
            <a:r>
              <a:rPr lang="en-US" dirty="0"/>
              <a:t>Method 3: ANN model</a:t>
            </a:r>
          </a:p>
        </p:txBody>
      </p:sp>
      <p:pic>
        <p:nvPicPr>
          <p:cNvPr id="4" name="Picture 3" descr="A screenshot of a chart&#10;&#10;AI-generated content may be incorrect.">
            <a:extLst>
              <a:ext uri="{FF2B5EF4-FFF2-40B4-BE49-F238E27FC236}">
                <a16:creationId xmlns:a16="http://schemas.microsoft.com/office/drawing/2014/main" id="{9162C6FA-2713-1626-AC16-184D134E58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250" y="1002536"/>
            <a:ext cx="7418092" cy="4543580"/>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
        <p:nvSpPr>
          <p:cNvPr id="3" name="Content Placeholder 2">
            <a:extLst>
              <a:ext uri="{FF2B5EF4-FFF2-40B4-BE49-F238E27FC236}">
                <a16:creationId xmlns:a16="http://schemas.microsoft.com/office/drawing/2014/main" id="{7F4C3428-383F-290E-36EC-574D5021E10C}"/>
              </a:ext>
            </a:extLst>
          </p:cNvPr>
          <p:cNvSpPr>
            <a:spLocks noGrp="1"/>
          </p:cNvSpPr>
          <p:nvPr>
            <p:ph idx="1"/>
          </p:nvPr>
        </p:nvSpPr>
        <p:spPr>
          <a:xfrm>
            <a:off x="7865806" y="2251587"/>
            <a:ext cx="3706762" cy="3972232"/>
          </a:xfrm>
        </p:spPr>
        <p:txBody>
          <a:bodyPr>
            <a:normAutofit/>
          </a:bodyPr>
          <a:lstStyle/>
          <a:p>
            <a:pPr>
              <a:lnSpc>
                <a:spcPct val="90000"/>
              </a:lnSpc>
            </a:pPr>
            <a:r>
              <a:rPr lang="en-US" sz="1500" dirty="0"/>
              <a:t>The Artificial Neural Network (ANN) Model is a computer model that mimics how the human brain processes information – through interconnected layers of neurons that learn patterns and relationships from data training</a:t>
            </a:r>
          </a:p>
          <a:p>
            <a:pPr>
              <a:lnSpc>
                <a:spcPct val="90000"/>
              </a:lnSpc>
            </a:pPr>
            <a:r>
              <a:rPr lang="en-US" sz="1500" dirty="0"/>
              <a:t>The ANN model improves by its accuracy predictions by adjusting the strength of the connections based off feedback</a:t>
            </a:r>
          </a:p>
          <a:p>
            <a:pPr>
              <a:lnSpc>
                <a:spcPct val="90000"/>
              </a:lnSpc>
            </a:pPr>
            <a:r>
              <a:rPr lang="en-US" sz="1500" dirty="0"/>
              <a:t>The model performance can also be adjusted by tuning the maximum number of iterations, layer sizes, and tolerance</a:t>
            </a:r>
          </a:p>
          <a:p>
            <a:pPr>
              <a:lnSpc>
                <a:spcPct val="90000"/>
              </a:lnSpc>
            </a:pPr>
            <a:r>
              <a:rPr lang="en-US" sz="1500" dirty="0"/>
              <a:t>On the left is the confusion matrix displaying the output of the best iteration getting a </a:t>
            </a:r>
            <a:r>
              <a:rPr lang="en-US" sz="1500" b="1" dirty="0"/>
              <a:t>prediction accuracy of 52% </a:t>
            </a:r>
            <a:r>
              <a:rPr lang="en-US" sz="1500" dirty="0"/>
              <a:t>on the testing data</a:t>
            </a:r>
            <a:endParaRPr lang="en-US" sz="1500" b="1" dirty="0"/>
          </a:p>
          <a:p>
            <a:pPr>
              <a:lnSpc>
                <a:spcPct val="90000"/>
              </a:lnSpc>
            </a:pPr>
            <a:endParaRPr lang="en-US" sz="1500" dirty="0"/>
          </a:p>
        </p:txBody>
      </p:sp>
    </p:spTree>
    <p:extLst>
      <p:ext uri="{BB962C8B-B14F-4D97-AF65-F5344CB8AC3E}">
        <p14:creationId xmlns:p14="http://schemas.microsoft.com/office/powerpoint/2010/main" val="1063176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023B2-FE7E-FE46-4232-62CBBB3852FD}"/>
              </a:ext>
            </a:extLst>
          </p:cNvPr>
          <p:cNvSpPr>
            <a:spLocks noGrp="1"/>
          </p:cNvSpPr>
          <p:nvPr>
            <p:ph type="title"/>
          </p:nvPr>
        </p:nvSpPr>
        <p:spPr/>
        <p:txBody>
          <a:bodyPr/>
          <a:lstStyle/>
          <a:p>
            <a:pPr algn="ctr"/>
            <a:r>
              <a:rPr lang="en-US" dirty="0"/>
              <a:t>Summary &amp; Recommendations</a:t>
            </a:r>
          </a:p>
        </p:txBody>
      </p:sp>
      <p:graphicFrame>
        <p:nvGraphicFramePr>
          <p:cNvPr id="9" name="Content Placeholder 8">
            <a:extLst>
              <a:ext uri="{FF2B5EF4-FFF2-40B4-BE49-F238E27FC236}">
                <a16:creationId xmlns:a16="http://schemas.microsoft.com/office/drawing/2014/main" id="{43E33F3D-AD95-55BD-AD4F-7B0F22D1A496}"/>
              </a:ext>
            </a:extLst>
          </p:cNvPr>
          <p:cNvGraphicFramePr>
            <a:graphicFrameLocks noGrp="1"/>
          </p:cNvGraphicFramePr>
          <p:nvPr>
            <p:ph idx="1"/>
            <p:extLst>
              <p:ext uri="{D42A27DB-BD31-4B8C-83A1-F6EECF244321}">
                <p14:modId xmlns:p14="http://schemas.microsoft.com/office/powerpoint/2010/main" val="2233582169"/>
              </p:ext>
            </p:extLst>
          </p:nvPr>
        </p:nvGraphicFramePr>
        <p:xfrm>
          <a:off x="685800" y="2141538"/>
          <a:ext cx="10131425" cy="36496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44458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A808D-1F09-662F-8021-F20C9346AF73}"/>
              </a:ext>
            </a:extLst>
          </p:cNvPr>
          <p:cNvSpPr>
            <a:spLocks noGrp="1"/>
          </p:cNvSpPr>
          <p:nvPr>
            <p:ph type="title"/>
          </p:nvPr>
        </p:nvSpPr>
        <p:spPr>
          <a:xfrm>
            <a:off x="4955458" y="639097"/>
            <a:ext cx="6593075" cy="1612490"/>
          </a:xfrm>
        </p:spPr>
        <p:txBody>
          <a:bodyPr>
            <a:normAutofit/>
          </a:bodyPr>
          <a:lstStyle/>
          <a:p>
            <a:r>
              <a:rPr lang="en-US" dirty="0"/>
              <a:t>Next steps</a:t>
            </a:r>
          </a:p>
        </p:txBody>
      </p:sp>
      <p:pic>
        <p:nvPicPr>
          <p:cNvPr id="5" name="Picture 4" descr="White arrows painted on the asphalt">
            <a:extLst>
              <a:ext uri="{FF2B5EF4-FFF2-40B4-BE49-F238E27FC236}">
                <a16:creationId xmlns:a16="http://schemas.microsoft.com/office/drawing/2014/main" id="{8086F489-1BBA-9E8B-0D70-4CA272371A5A}"/>
              </a:ext>
            </a:extLst>
          </p:cNvPr>
          <p:cNvPicPr>
            <a:picLocks noChangeAspect="1"/>
          </p:cNvPicPr>
          <p:nvPr/>
        </p:nvPicPr>
        <p:blipFill>
          <a:blip r:embed="rId4"/>
          <a:srcRect l="27089" r="28126" b="-1"/>
          <a:stretch>
            <a:fillRect/>
          </a:stretch>
        </p:blipFill>
        <p:spPr>
          <a:xfrm>
            <a:off x="20" y="975"/>
            <a:ext cx="4635988" cy="6858000"/>
          </a:xfrm>
          <a:prstGeom prst="rect">
            <a:avLst/>
          </a:prstGeom>
        </p:spPr>
      </p:pic>
      <p:sp>
        <p:nvSpPr>
          <p:cNvPr id="3" name="Content Placeholder 2">
            <a:extLst>
              <a:ext uri="{FF2B5EF4-FFF2-40B4-BE49-F238E27FC236}">
                <a16:creationId xmlns:a16="http://schemas.microsoft.com/office/drawing/2014/main" id="{464131BB-E1A8-8F1C-3F7C-92A5B72359E4}"/>
              </a:ext>
            </a:extLst>
          </p:cNvPr>
          <p:cNvSpPr>
            <a:spLocks noGrp="1"/>
          </p:cNvSpPr>
          <p:nvPr>
            <p:ph idx="1"/>
          </p:nvPr>
        </p:nvSpPr>
        <p:spPr>
          <a:xfrm>
            <a:off x="4955458" y="2251587"/>
            <a:ext cx="6593075" cy="3972232"/>
          </a:xfrm>
        </p:spPr>
        <p:txBody>
          <a:bodyPr>
            <a:normAutofit/>
          </a:bodyPr>
          <a:lstStyle/>
          <a:p>
            <a:r>
              <a:rPr lang="en-US" dirty="0"/>
              <a:t>With the correct machine learning in place, the first next step is to expand the data coverage to more stations and regions</a:t>
            </a:r>
          </a:p>
          <a:p>
            <a:r>
              <a:rPr lang="en-US" dirty="0"/>
              <a:t>Continuously update model with new data</a:t>
            </a:r>
          </a:p>
          <a:p>
            <a:r>
              <a:rPr lang="en-US" dirty="0"/>
              <a:t>Diversify data points with more/new variables where possible, for increased accuracy</a:t>
            </a:r>
          </a:p>
          <a:p>
            <a:r>
              <a:rPr lang="en-US" dirty="0"/>
              <a:t>Explore other machine learning models if any additional resources are available</a:t>
            </a:r>
          </a:p>
        </p:txBody>
      </p:sp>
    </p:spTree>
    <p:extLst>
      <p:ext uri="{BB962C8B-B14F-4D97-AF65-F5344CB8AC3E}">
        <p14:creationId xmlns:p14="http://schemas.microsoft.com/office/powerpoint/2010/main" val="2509369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BECFFDC-94DB-4DA3-94FE-22FEDDA8FA3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useBgFill="1">
        <p:nvSpPr>
          <p:cNvPr id="15" name="Rectangle 14">
            <a:extLst>
              <a:ext uri="{FF2B5EF4-FFF2-40B4-BE49-F238E27FC236}">
                <a16:creationId xmlns:a16="http://schemas.microsoft.com/office/drawing/2014/main" id="{0DC895F7-4E59-40FB-87DD-ACE47F94C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62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Colorful envelopes">
            <a:extLst>
              <a:ext uri="{FF2B5EF4-FFF2-40B4-BE49-F238E27FC236}">
                <a16:creationId xmlns:a16="http://schemas.microsoft.com/office/drawing/2014/main" id="{CF5F4B9E-4C1E-90E5-B8EF-56940C83426D}"/>
              </a:ext>
            </a:extLst>
          </p:cNvPr>
          <p:cNvPicPr>
            <a:picLocks noChangeAspect="1"/>
          </p:cNvPicPr>
          <p:nvPr/>
        </p:nvPicPr>
        <p:blipFill>
          <a:blip r:embed="rId5">
            <a:alphaModFix amt="20000"/>
          </a:blip>
          <a:srcRect t="13011" b="2719"/>
          <a:stretch>
            <a:fillRect/>
          </a:stretch>
        </p:blipFill>
        <p:spPr>
          <a:xfrm>
            <a:off x="20" y="10"/>
            <a:ext cx="12191980" cy="6857990"/>
          </a:xfrm>
          <a:prstGeom prst="rect">
            <a:avLst/>
          </a:prstGeom>
        </p:spPr>
      </p:pic>
      <p:pic>
        <p:nvPicPr>
          <p:cNvPr id="17" name="Picture 16">
            <a:extLst>
              <a:ext uri="{FF2B5EF4-FFF2-40B4-BE49-F238E27FC236}">
                <a16:creationId xmlns:a16="http://schemas.microsoft.com/office/drawing/2014/main" id="{1A4C720E-710D-44F8-A8D7-2BAA61E1814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5100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a:extLst>
              <a:ext uri="{FF2B5EF4-FFF2-40B4-BE49-F238E27FC236}">
                <a16:creationId xmlns:a16="http://schemas.microsoft.com/office/drawing/2014/main" id="{9E19DDC8-0255-FF9C-A77F-7961AD7E601C}"/>
              </a:ext>
            </a:extLst>
          </p:cNvPr>
          <p:cNvSpPr>
            <a:spLocks noGrp="1"/>
          </p:cNvSpPr>
          <p:nvPr>
            <p:ph type="title"/>
          </p:nvPr>
        </p:nvSpPr>
        <p:spPr>
          <a:xfrm>
            <a:off x="778525" y="253386"/>
            <a:ext cx="7197726" cy="1131779"/>
          </a:xfrm>
        </p:spPr>
        <p:txBody>
          <a:bodyPr vert="horz" lIns="91440" tIns="45720" rIns="91440" bIns="45720" rtlCol="0" anchor="b">
            <a:normAutofit/>
          </a:bodyPr>
          <a:lstStyle/>
          <a:p>
            <a:pPr algn="r"/>
            <a:r>
              <a:rPr lang="en-US" sz="4800" dirty="0"/>
              <a:t>Thank you!</a:t>
            </a:r>
          </a:p>
        </p:txBody>
      </p:sp>
      <p:sp>
        <p:nvSpPr>
          <p:cNvPr id="7" name="Content Placeholder 6">
            <a:extLst>
              <a:ext uri="{FF2B5EF4-FFF2-40B4-BE49-F238E27FC236}">
                <a16:creationId xmlns:a16="http://schemas.microsoft.com/office/drawing/2014/main" id="{B2033EC4-252D-3C7E-D031-72CFBC0F37BF}"/>
              </a:ext>
            </a:extLst>
          </p:cNvPr>
          <p:cNvSpPr>
            <a:spLocks noGrp="1"/>
          </p:cNvSpPr>
          <p:nvPr>
            <p:ph idx="1"/>
          </p:nvPr>
        </p:nvSpPr>
        <p:spPr>
          <a:xfrm>
            <a:off x="1307335" y="4462848"/>
            <a:ext cx="3507037" cy="1405467"/>
          </a:xfrm>
        </p:spPr>
        <p:txBody>
          <a:bodyPr vert="horz" lIns="91440" tIns="45720" rIns="91440" bIns="45720" rtlCol="0" anchor="t">
            <a:normAutofit lnSpcReduction="10000"/>
          </a:bodyPr>
          <a:lstStyle/>
          <a:p>
            <a:pPr marL="0" indent="0" algn="ctr">
              <a:buNone/>
            </a:pPr>
            <a:r>
              <a:rPr lang="en-US" cap="all" dirty="0"/>
              <a:t>For any questions, please contact me at</a:t>
            </a:r>
          </a:p>
          <a:p>
            <a:pPr marL="0" indent="0" algn="ctr">
              <a:buNone/>
            </a:pPr>
            <a:endParaRPr lang="en-US" cap="all" dirty="0"/>
          </a:p>
          <a:p>
            <a:pPr marL="0" indent="0" algn="ctr">
              <a:buNone/>
            </a:pPr>
            <a:r>
              <a:rPr lang="en-US" cap="all" dirty="0" err="1"/>
              <a:t>badwalpuneet@gmail.com</a:t>
            </a:r>
            <a:endParaRPr lang="en-US" cap="all" dirty="0"/>
          </a:p>
        </p:txBody>
      </p:sp>
      <p:sp>
        <p:nvSpPr>
          <p:cNvPr id="8" name="Content Placeholder 6">
            <a:extLst>
              <a:ext uri="{FF2B5EF4-FFF2-40B4-BE49-F238E27FC236}">
                <a16:creationId xmlns:a16="http://schemas.microsoft.com/office/drawing/2014/main" id="{BF21FEE7-D261-CF22-A03C-B28F5F0408E4}"/>
              </a:ext>
            </a:extLst>
          </p:cNvPr>
          <p:cNvSpPr txBox="1">
            <a:spLocks/>
          </p:cNvSpPr>
          <p:nvPr/>
        </p:nvSpPr>
        <p:spPr>
          <a:xfrm>
            <a:off x="7061813" y="4462849"/>
            <a:ext cx="3822854" cy="1405467"/>
          </a:xfrm>
          <a:prstGeom prst="rect">
            <a:avLst/>
          </a:prstGeom>
        </p:spPr>
        <p:txBody>
          <a:bodyPr vert="horz" lIns="91440" tIns="45720" rIns="91440" bIns="45720" rtlCol="0" anchor="t">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Font typeface="Arial"/>
              <a:buNone/>
            </a:pPr>
            <a:r>
              <a:rPr lang="en-US" cap="all" dirty="0"/>
              <a:t>For more information on this project, please visit the github link below</a:t>
            </a:r>
          </a:p>
          <a:p>
            <a:pPr marL="0" indent="0" algn="ctr">
              <a:buFont typeface="Arial"/>
              <a:buNone/>
            </a:pPr>
            <a:r>
              <a:rPr lang="en-US" cap="all" dirty="0"/>
              <a:t> </a:t>
            </a:r>
            <a:r>
              <a:rPr lang="en-US" cap="all" dirty="0">
                <a:hlinkClick r:id="rId6"/>
              </a:rPr>
              <a:t>github – </a:t>
            </a:r>
            <a:r>
              <a:rPr lang="en-US" cap="all" dirty="0" err="1">
                <a:hlinkClick r:id="rId6"/>
              </a:rPr>
              <a:t>climatewins</a:t>
            </a:r>
            <a:r>
              <a:rPr lang="en-US" cap="all" dirty="0">
                <a:hlinkClick r:id="rId6"/>
              </a:rPr>
              <a:t> analysis</a:t>
            </a:r>
            <a:endParaRPr lang="en-US" cap="all" dirty="0"/>
          </a:p>
        </p:txBody>
      </p:sp>
      <p:pic>
        <p:nvPicPr>
          <p:cNvPr id="16" name="Graphic 15" descr="Email with solid fill">
            <a:extLst>
              <a:ext uri="{FF2B5EF4-FFF2-40B4-BE49-F238E27FC236}">
                <a16:creationId xmlns:a16="http://schemas.microsoft.com/office/drawing/2014/main" id="{4B46F27D-8550-D436-919C-12399CAEB42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16087" y="2059236"/>
            <a:ext cx="2245605" cy="2245605"/>
          </a:xfrm>
          <a:prstGeom prst="rect">
            <a:avLst/>
          </a:prstGeom>
        </p:spPr>
      </p:pic>
      <p:pic>
        <p:nvPicPr>
          <p:cNvPr id="19" name="Graphic 18" descr="Information with solid fill">
            <a:extLst>
              <a:ext uri="{FF2B5EF4-FFF2-40B4-BE49-F238E27FC236}">
                <a16:creationId xmlns:a16="http://schemas.microsoft.com/office/drawing/2014/main" id="{BF612499-94CB-282D-40EC-3F0F52D1799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30310" y="2059236"/>
            <a:ext cx="2245606" cy="2245606"/>
          </a:xfrm>
          <a:prstGeom prst="rect">
            <a:avLst/>
          </a:prstGeom>
        </p:spPr>
      </p:pic>
    </p:spTree>
    <p:extLst>
      <p:ext uri="{BB962C8B-B14F-4D97-AF65-F5344CB8AC3E}">
        <p14:creationId xmlns:p14="http://schemas.microsoft.com/office/powerpoint/2010/main" val="17732164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Celestial</Template>
  <TotalTime>8432</TotalTime>
  <Words>1269</Words>
  <Application>Microsoft Macintosh PowerPoint</Application>
  <PresentationFormat>Widescreen</PresentationFormat>
  <Paragraphs>88</Paragraphs>
  <Slides>12</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American Typewriter</vt:lpstr>
      <vt:lpstr>Aptos</vt:lpstr>
      <vt:lpstr>Arial</vt:lpstr>
      <vt:lpstr>Calibri</vt:lpstr>
      <vt:lpstr>Calibri Light</vt:lpstr>
      <vt:lpstr>Celestial</vt:lpstr>
      <vt:lpstr>Weather Conditions &amp; Climate Change Analysis for CLimateWINS</vt:lpstr>
      <vt:lpstr>Introduction &amp; Project Overview</vt:lpstr>
      <vt:lpstr>hypothesis</vt:lpstr>
      <vt:lpstr>About the data</vt:lpstr>
      <vt:lpstr>Data bias</vt:lpstr>
      <vt:lpstr>optimization</vt:lpstr>
      <vt:lpstr>Method 1: KNN Model</vt:lpstr>
      <vt:lpstr>Method 2: Decision Tree model</vt:lpstr>
      <vt:lpstr>Method 3: ANN model</vt:lpstr>
      <vt:lpstr>Summary &amp; Recommendations</vt:lpstr>
      <vt:lpstr>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Gurinder Badwal</dc:creator>
  <cp:lastModifiedBy>Gurinder Badwal</cp:lastModifiedBy>
  <cp:revision>11</cp:revision>
  <dcterms:created xsi:type="dcterms:W3CDTF">2025-11-05T22:20:07Z</dcterms:created>
  <dcterms:modified xsi:type="dcterms:W3CDTF">2025-11-11T18:53:07Z</dcterms:modified>
</cp:coreProperties>
</file>